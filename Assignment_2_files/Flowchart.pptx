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29C"/>
    <a:srgbClr val="C9B8DA"/>
    <a:srgbClr val="F7DF7B"/>
    <a:srgbClr val="C3DDAE"/>
    <a:srgbClr val="DCEDF4"/>
    <a:srgbClr val="DCCF96"/>
    <a:srgbClr val="B1D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91" d="100"/>
          <a:sy n="91" d="100"/>
        </p:scale>
        <p:origin x="6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4941-7BC5-F8EF-67A5-F2C9086DB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27C18-91F3-2242-5C6E-661F6A0B4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2D47-B019-C634-0CA1-B7946A1FC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D28F2-FB95-0E2C-4030-0855282C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0694E-61ED-1A67-8FE7-41506AA70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7811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278B-4DD3-5171-A310-14B3A64B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D8A14-B081-EB82-78A7-CA1089435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07E67-C63A-4E8C-0050-08B4E60B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30404-7841-0404-7BA8-E0F2D754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1A4A8-08D1-E504-B0EA-50E72CB7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907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D692-6D22-A39B-8D6D-474C55FF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9626D-6219-3410-09DB-F9F43860B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6E013-EC94-3840-BC42-2B8E55EC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1E992-1411-3FFA-5638-6A7D7F83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B8AA6-8A23-3BE2-BC42-65027F81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498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CCAF-670F-EEEE-19CD-7D308B69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FF8E-B498-05E2-D097-FE6E79D74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AB465-226E-548B-9B47-3560FF17D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00F93-45EA-442F-892D-5C261202B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AAFAF-BA07-9845-5A5B-00740344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132A3-834B-E2F7-1646-C6C10959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9924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9D12-24D2-E1DA-047D-CEE9BF1B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57233-A788-1483-AFBC-09185D763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53D48-11EC-25FB-384B-E6220465A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EA644-9C33-2BDC-43D3-BC71292A8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81F947-31D5-26FD-55D8-68FFDFF96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935E0-A450-F249-C58A-75FFECF4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EEA71-97EC-C09E-1EB2-FB9F4381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1300C8-95BB-E212-E62D-BA11029D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419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E74ED-1AF4-2BC9-9C67-442A54787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B5645-1832-E398-C7B7-C03459EE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79BAD-6477-09DC-5509-3FC12665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F0BBA-D665-B388-0B3E-4DF1A95A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48551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C957C-6655-FA12-1D46-3222E0E93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729EF-7D77-1094-899B-18C7F282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86C82-31CB-5BCB-6772-72EA5E7E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53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C0831-5F46-C542-7C65-0F50BD4D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10896-BC2D-4D42-2E8C-70B87D96A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3177E2-2C8C-B096-20CF-97BF95B6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6CFBF-15AA-7B64-A3AE-920008F4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C8EE1-5BB3-96BE-3605-7DF40F233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54CFC-C4C7-E7ED-D4AC-12EF61C4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7666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B965-7278-EA5E-4479-69CF0F620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8A280-4FA9-F65C-0D75-21B6C2A93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E6A79-7629-6CF6-6570-D9477D85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867B2-675F-0425-AED2-0054395B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6A001-60BF-4707-147B-141EC0C79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3F068-6C47-8487-B5E3-2336FBB9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724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8290-0AE3-6DEC-6E71-3514D095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6421E6-F02B-0297-15D4-0BDA0D7ED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66F9A-3915-8C6F-31B7-95B6B11D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4B059-4927-3514-9B7F-7A535DF7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5BD40-261F-A2ED-043F-AF128224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8058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A6733-51F7-3EBC-0057-D123379B0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55817-C766-39B4-6F49-28C744562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D7206-9BE3-F79E-6533-CD40B054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18820-EFAA-BA90-70BA-EBAA32E8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BBE47-5A77-717A-EC71-58EF776A6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060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B88C3-C4D5-951C-E7D8-84DFB506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45DAF-AF77-F0DE-B7F6-23801578B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E0DAE-C859-29FF-6D8F-72B1555B0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81ADFC-4979-48C2-96F6-CCC8A1D6C33A}" type="datetimeFigureOut">
              <a:rPr lang="en-SG" smtClean="0"/>
              <a:t>6/4/2026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3E76D-56B5-AFE6-2F49-8D537E497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E126-5501-1B0D-02C0-8BD95E2783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1C2C2-6F8F-46D1-95E5-288F14A919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335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E377-E153-53AD-9615-69A5F2C039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2AF83-28B0-0AEF-3F8E-78540E9A98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BD7413-3B07-42BD-D0B3-C3EB446D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2EA3E-82D7-07FF-C7EA-CF6B653A9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184">
            <a:extLst>
              <a:ext uri="{FF2B5EF4-FFF2-40B4-BE49-F238E27FC236}">
                <a16:creationId xmlns:a16="http://schemas.microsoft.com/office/drawing/2014/main" id="{8DC33FE7-CC7A-A547-828C-A955EC518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54"/>
          <a:stretch>
            <a:fillRect/>
          </a:stretch>
        </p:blipFill>
        <p:spPr>
          <a:xfrm>
            <a:off x="13015251" y="546577"/>
            <a:ext cx="5388492" cy="5324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788071-EFDB-527A-580C-555564419D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dotGrid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D55EB5-7CAF-9B4F-C87F-1A0C61B2B393}"/>
              </a:ext>
            </a:extLst>
          </p:cNvPr>
          <p:cNvSpPr/>
          <p:nvPr/>
        </p:nvSpPr>
        <p:spPr>
          <a:xfrm>
            <a:off x="478438" y="218969"/>
            <a:ext cx="2595717" cy="6287730"/>
          </a:xfrm>
          <a:prstGeom prst="rect">
            <a:avLst/>
          </a:prstGeom>
          <a:solidFill>
            <a:srgbClr val="DCEDF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E81943-968A-841B-27D8-DFBF548A62E1}"/>
              </a:ext>
            </a:extLst>
          </p:cNvPr>
          <p:cNvSpPr/>
          <p:nvPr/>
        </p:nvSpPr>
        <p:spPr>
          <a:xfrm>
            <a:off x="507895" y="148505"/>
            <a:ext cx="2595717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SG" sz="1600" b="1" dirty="0">
                <a:solidFill>
                  <a:schemeClr val="tx1"/>
                </a:solidFill>
                <a:latin typeface="Aptos Narrow" panose="020B0004020202020204" pitchFamily="34" charset="0"/>
              </a:rPr>
              <a:t>1. Arrival </a:t>
            </a:r>
          </a:p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(submodel-arrival)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5675B5-F036-4077-E3B8-18ECBFE23BAE}"/>
              </a:ext>
            </a:extLst>
          </p:cNvPr>
          <p:cNvSpPr/>
          <p:nvPr/>
        </p:nvSpPr>
        <p:spPr>
          <a:xfrm>
            <a:off x="3192103" y="218969"/>
            <a:ext cx="2392620" cy="6287730"/>
          </a:xfrm>
          <a:prstGeom prst="rect">
            <a:avLst/>
          </a:prstGeom>
          <a:solidFill>
            <a:srgbClr val="C3DDA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74E12F-1EFE-480B-4A38-83FCCD5E62B2}"/>
              </a:ext>
            </a:extLst>
          </p:cNvPr>
          <p:cNvSpPr/>
          <p:nvPr/>
        </p:nvSpPr>
        <p:spPr>
          <a:xfrm>
            <a:off x="3192102" y="148505"/>
            <a:ext cx="2392621" cy="511278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SG" sz="1600" b="1" dirty="0">
                <a:solidFill>
                  <a:schemeClr val="tx1"/>
                </a:solidFill>
                <a:latin typeface="Aptos Narrow" panose="020B0004020202020204" pitchFamily="34" charset="0"/>
              </a:rPr>
              <a:t>2. Approach</a:t>
            </a:r>
          </a:p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(submodel-arrival)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E49C86-EBC0-2281-C6A8-96E486DEB297}"/>
              </a:ext>
            </a:extLst>
          </p:cNvPr>
          <p:cNvSpPr/>
          <p:nvPr/>
        </p:nvSpPr>
        <p:spPr>
          <a:xfrm>
            <a:off x="5624052" y="218969"/>
            <a:ext cx="2413085" cy="6287730"/>
          </a:xfrm>
          <a:prstGeom prst="rect">
            <a:avLst/>
          </a:prstGeom>
          <a:solidFill>
            <a:srgbClr val="F7DF7B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90D46A-60B1-4677-A56C-E08545D77A23}"/>
              </a:ext>
            </a:extLst>
          </p:cNvPr>
          <p:cNvSpPr/>
          <p:nvPr/>
        </p:nvSpPr>
        <p:spPr>
          <a:xfrm>
            <a:off x="8051155" y="218969"/>
            <a:ext cx="2005784" cy="6287730"/>
          </a:xfrm>
          <a:prstGeom prst="rect">
            <a:avLst/>
          </a:prstGeom>
          <a:solidFill>
            <a:srgbClr val="C9B8D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B1AF69-FEF4-7D19-EA58-3434D54B7B15}"/>
              </a:ext>
            </a:extLst>
          </p:cNvPr>
          <p:cNvSpPr/>
          <p:nvPr/>
        </p:nvSpPr>
        <p:spPr>
          <a:xfrm>
            <a:off x="10121578" y="218969"/>
            <a:ext cx="2005783" cy="6287730"/>
          </a:xfrm>
          <a:prstGeom prst="rect">
            <a:avLst/>
          </a:prstGeom>
          <a:solidFill>
            <a:srgbClr val="F2A29C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F04F2E4-98A1-3A0E-1754-FBF80BC7DF5E}"/>
              </a:ext>
            </a:extLst>
          </p:cNvPr>
          <p:cNvSpPr/>
          <p:nvPr/>
        </p:nvSpPr>
        <p:spPr>
          <a:xfrm>
            <a:off x="5624052" y="148505"/>
            <a:ext cx="2413086" cy="511278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SG" sz="1600" b="1" dirty="0">
                <a:solidFill>
                  <a:schemeClr val="tx1"/>
                </a:solidFill>
                <a:latin typeface="Aptos Narrow" panose="020B0004020202020204" pitchFamily="34" charset="0"/>
              </a:rPr>
              <a:t>3. Boarding</a:t>
            </a:r>
          </a:p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(submodel-boarding)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C736ED-E190-AD7C-4FC2-C72BBE49A2B5}"/>
              </a:ext>
            </a:extLst>
          </p:cNvPr>
          <p:cNvSpPr/>
          <p:nvPr/>
        </p:nvSpPr>
        <p:spPr>
          <a:xfrm>
            <a:off x="8076467" y="148505"/>
            <a:ext cx="2005784" cy="511278"/>
          </a:xfrm>
          <a:prstGeom prst="roundRect">
            <a:avLst>
              <a:gd name="adj" fmla="val 10612"/>
            </a:avLst>
          </a:prstGeom>
          <a:solidFill>
            <a:srgbClr val="C9B8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SG" sz="1600" b="1" dirty="0">
                <a:solidFill>
                  <a:schemeClr val="tx1"/>
                </a:solidFill>
                <a:latin typeface="Aptos Narrow" panose="020B0004020202020204" pitchFamily="34" charset="0"/>
              </a:rPr>
              <a:t>4. Movement</a:t>
            </a:r>
          </a:p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(submodel-movement)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9C7E372-84E7-32F8-57E5-4DCB5C1DAFC4}"/>
              </a:ext>
            </a:extLst>
          </p:cNvPr>
          <p:cNvSpPr/>
          <p:nvPr/>
        </p:nvSpPr>
        <p:spPr>
          <a:xfrm>
            <a:off x="10121578" y="148505"/>
            <a:ext cx="200578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r>
              <a:rPr lang="en-SG" sz="1600" b="1" dirty="0">
                <a:solidFill>
                  <a:schemeClr val="tx1"/>
                </a:solidFill>
                <a:latin typeface="Aptos Narrow" panose="020B0004020202020204" pitchFamily="34" charset="0"/>
              </a:rPr>
              <a:t>5. Exit </a:t>
            </a:r>
          </a:p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(submodel-exit)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C04B9E-B67A-D241-C62A-A5EEC3BDFF2C}"/>
              </a:ext>
            </a:extLst>
          </p:cNvPr>
          <p:cNvGrpSpPr/>
          <p:nvPr/>
        </p:nvGrpSpPr>
        <p:grpSpPr>
          <a:xfrm>
            <a:off x="1102808" y="761777"/>
            <a:ext cx="1343795" cy="411932"/>
            <a:chOff x="906026" y="1056250"/>
            <a:chExt cx="1343795" cy="41193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8013251-1CC5-C476-7D55-1AD3DB764AF3}"/>
                </a:ext>
              </a:extLst>
            </p:cNvPr>
            <p:cNvSpPr/>
            <p:nvPr/>
          </p:nvSpPr>
          <p:spPr>
            <a:xfrm>
              <a:off x="923925" y="1056250"/>
              <a:ext cx="1307999" cy="411932"/>
            </a:xfrm>
            <a:prstGeom prst="roundRect">
              <a:avLst>
                <a:gd name="adj" fmla="val 50000"/>
              </a:avLst>
            </a:prstGeom>
            <a:solidFill>
              <a:srgbClr val="B1D6E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100" dirty="0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22A8FB-7EA3-898E-EDCB-F0B3966EF859}"/>
                </a:ext>
              </a:extLst>
            </p:cNvPr>
            <p:cNvSpPr txBox="1"/>
            <p:nvPr/>
          </p:nvSpPr>
          <p:spPr>
            <a:xfrm>
              <a:off x="906026" y="1184480"/>
              <a:ext cx="1343795" cy="1754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SG" sz="12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New agent created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D75F0A-6794-788A-DFD0-F8277221F064}"/>
              </a:ext>
            </a:extLst>
          </p:cNvPr>
          <p:cNvGrpSpPr/>
          <p:nvPr/>
        </p:nvGrpSpPr>
        <p:grpSpPr>
          <a:xfrm>
            <a:off x="1056771" y="1372403"/>
            <a:ext cx="1435845" cy="694105"/>
            <a:chOff x="1061517" y="1435714"/>
            <a:chExt cx="1435845" cy="694105"/>
          </a:xfrm>
        </p:grpSpPr>
        <p:sp>
          <p:nvSpPr>
            <p:cNvPr id="24" name="Diamond 23">
              <a:extLst>
                <a:ext uri="{FF2B5EF4-FFF2-40B4-BE49-F238E27FC236}">
                  <a16:creationId xmlns:a16="http://schemas.microsoft.com/office/drawing/2014/main" id="{D8353EA1-1821-9924-5267-D1B372DF5A6A}"/>
                </a:ext>
              </a:extLst>
            </p:cNvPr>
            <p:cNvSpPr/>
            <p:nvPr/>
          </p:nvSpPr>
          <p:spPr>
            <a:xfrm>
              <a:off x="1061517" y="1435714"/>
              <a:ext cx="1435845" cy="694105"/>
            </a:xfrm>
            <a:prstGeom prst="diamond">
              <a:avLst/>
            </a:prstGeom>
            <a:solidFill>
              <a:srgbClr val="B1D6E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600" b="1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BEE403-7610-AC30-4D30-E76623F7164A}"/>
                </a:ext>
              </a:extLst>
            </p:cNvPr>
            <p:cNvSpPr txBox="1"/>
            <p:nvPr/>
          </p:nvSpPr>
          <p:spPr>
            <a:xfrm>
              <a:off x="1102809" y="1594633"/>
              <a:ext cx="1343795" cy="35086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SG" sz="12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Rush Hour?</a:t>
              </a:r>
            </a:p>
            <a:p>
              <a:pPr algn="ctr">
                <a:lnSpc>
                  <a:spcPct val="95000"/>
                </a:lnSpc>
              </a:pPr>
              <a:r>
                <a:rPr lang="en-SG" sz="1200" dirty="0">
                  <a:latin typeface="Aptos Narrow" panose="020B0004020202020204" pitchFamily="34" charset="0"/>
                </a:rPr>
                <a:t>(08:30-09:30)</a:t>
              </a:r>
              <a:endParaRPr lang="en-SG" sz="1200" dirty="0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22929B-F494-65BE-6E71-EB19FF0E6D12}"/>
              </a:ext>
            </a:extLst>
          </p:cNvPr>
          <p:cNvCxnSpPr>
            <a:cxnSpLocks/>
            <a:stCxn id="20" idx="2"/>
            <a:endCxn id="24" idx="0"/>
          </p:cNvCxnSpPr>
          <p:nvPr/>
        </p:nvCxnSpPr>
        <p:spPr>
          <a:xfrm flipH="1">
            <a:off x="1774694" y="1173709"/>
            <a:ext cx="13" cy="19869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DD4EA5A-DE50-009F-A3BD-36B791E13141}"/>
              </a:ext>
            </a:extLst>
          </p:cNvPr>
          <p:cNvSpPr/>
          <p:nvPr/>
        </p:nvSpPr>
        <p:spPr>
          <a:xfrm>
            <a:off x="574705" y="2225427"/>
            <a:ext cx="958955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Arrival via </a:t>
            </a:r>
          </a:p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Train Batch </a:t>
            </a:r>
          </a:p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(Fixed Intervals)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0E7A2A0-6A30-3B79-B32D-D51884CBEEC7}"/>
              </a:ext>
            </a:extLst>
          </p:cNvPr>
          <p:cNvSpPr/>
          <p:nvPr/>
        </p:nvSpPr>
        <p:spPr>
          <a:xfrm>
            <a:off x="2013138" y="2225427"/>
            <a:ext cx="958955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Off-peak arrival (20pax/min)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1E9880-7843-DC8E-683E-B0DFE0BE28C7}"/>
              </a:ext>
            </a:extLst>
          </p:cNvPr>
          <p:cNvCxnSpPr>
            <a:cxnSpLocks/>
            <a:stCxn id="24" idx="1"/>
            <a:endCxn id="30" idx="0"/>
          </p:cNvCxnSpPr>
          <p:nvPr/>
        </p:nvCxnSpPr>
        <p:spPr>
          <a:xfrm flipH="1">
            <a:off x="1054183" y="1719456"/>
            <a:ext cx="2588" cy="50597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DE1120D-473E-646E-952A-87A7A7B25BA9}"/>
              </a:ext>
            </a:extLst>
          </p:cNvPr>
          <p:cNvCxnSpPr>
            <a:cxnSpLocks/>
            <a:stCxn id="24" idx="3"/>
            <a:endCxn id="31" idx="0"/>
          </p:cNvCxnSpPr>
          <p:nvPr/>
        </p:nvCxnSpPr>
        <p:spPr>
          <a:xfrm>
            <a:off x="2492616" y="1719456"/>
            <a:ext cx="0" cy="50597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3651419-6C4E-04AC-775B-C34AA4463DFE}"/>
              </a:ext>
            </a:extLst>
          </p:cNvPr>
          <p:cNvSpPr txBox="1"/>
          <p:nvPr/>
        </p:nvSpPr>
        <p:spPr>
          <a:xfrm>
            <a:off x="919576" y="1888770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64D436-7618-98BF-217B-4151BC3CF0DD}"/>
              </a:ext>
            </a:extLst>
          </p:cNvPr>
          <p:cNvSpPr txBox="1"/>
          <p:nvPr/>
        </p:nvSpPr>
        <p:spPr>
          <a:xfrm>
            <a:off x="2353116" y="1888770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3123C5F-ED4D-E0C3-B506-CED9DBFE6047}"/>
              </a:ext>
            </a:extLst>
          </p:cNvPr>
          <p:cNvSpPr/>
          <p:nvPr/>
        </p:nvSpPr>
        <p:spPr>
          <a:xfrm>
            <a:off x="574705" y="3103493"/>
            <a:ext cx="958955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Assign Type  </a:t>
            </a:r>
          </a:p>
          <a:p>
            <a:pPr algn="ctr">
              <a:lnSpc>
                <a:spcPct val="90000"/>
              </a:lnSpc>
            </a:pPr>
            <a:r>
              <a:rPr lang="en-SG" sz="900" dirty="0">
                <a:solidFill>
                  <a:schemeClr val="tx1"/>
                </a:solidFill>
                <a:latin typeface="Aptos Narrow" panose="020B0004020202020204" pitchFamily="34" charset="0"/>
              </a:rPr>
              <a:t>(Walker / Stander)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D63411F-3BC7-09AA-DB43-E918AB563EE6}"/>
              </a:ext>
            </a:extLst>
          </p:cNvPr>
          <p:cNvSpPr/>
          <p:nvPr/>
        </p:nvSpPr>
        <p:spPr>
          <a:xfrm>
            <a:off x="1682319" y="3105336"/>
            <a:ext cx="1125903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Assign Lane Preference </a:t>
            </a:r>
            <a:b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</a:br>
            <a:r>
              <a:rPr lang="en-SG" sz="800" dirty="0">
                <a:solidFill>
                  <a:schemeClr val="tx1"/>
                </a:solidFill>
                <a:latin typeface="Aptos Narrow" panose="020B0004020202020204" pitchFamily="34" charset="0"/>
              </a:rPr>
              <a:t>(Based on pct-walkers)</a:t>
            </a:r>
            <a:endParaRPr lang="en-SG" sz="11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77B4A73-79AB-2EC9-F06D-6514FB6042EB}"/>
              </a:ext>
            </a:extLst>
          </p:cNvPr>
          <p:cNvCxnSpPr>
            <a:cxnSpLocks/>
            <a:stCxn id="30" idx="2"/>
            <a:endCxn id="44" idx="0"/>
          </p:cNvCxnSpPr>
          <p:nvPr/>
        </p:nvCxnSpPr>
        <p:spPr>
          <a:xfrm>
            <a:off x="1054183" y="2736705"/>
            <a:ext cx="0" cy="36678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8085C997-1BE4-8601-AD2B-8DDB4A1D516E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1067530" y="2897929"/>
            <a:ext cx="1177741" cy="207407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74184DB-090D-BF72-8D71-3B8474A2151C}"/>
              </a:ext>
            </a:extLst>
          </p:cNvPr>
          <p:cNvSpPr/>
          <p:nvPr/>
        </p:nvSpPr>
        <p:spPr>
          <a:xfrm>
            <a:off x="1287088" y="4133894"/>
            <a:ext cx="958955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Add Arrival Timestamp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CE2E98D-3CB9-63CA-5C21-8DCB98C2AC50}"/>
              </a:ext>
            </a:extLst>
          </p:cNvPr>
          <p:cNvSpPr/>
          <p:nvPr/>
        </p:nvSpPr>
        <p:spPr>
          <a:xfrm>
            <a:off x="1016923" y="4955503"/>
            <a:ext cx="1499283" cy="511278"/>
          </a:xfrm>
          <a:prstGeom prst="roundRect">
            <a:avLst>
              <a:gd name="adj" fmla="val 10612"/>
            </a:avLst>
          </a:prstGeom>
          <a:solidFill>
            <a:srgbClr val="B1D6E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Drain to Spawn Patches (30pax/tick)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576B0CD-E5F1-EDD0-E2CB-597138B40ED8}"/>
              </a:ext>
            </a:extLst>
          </p:cNvPr>
          <p:cNvGrpSpPr/>
          <p:nvPr/>
        </p:nvGrpSpPr>
        <p:grpSpPr>
          <a:xfrm>
            <a:off x="960012" y="5835412"/>
            <a:ext cx="1600783" cy="411932"/>
            <a:chOff x="906026" y="1056250"/>
            <a:chExt cx="1343795" cy="411932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72C243F-424A-0C41-2610-120D68115880}"/>
                </a:ext>
              </a:extLst>
            </p:cNvPr>
            <p:cNvSpPr/>
            <p:nvPr/>
          </p:nvSpPr>
          <p:spPr>
            <a:xfrm>
              <a:off x="923925" y="1056250"/>
              <a:ext cx="1307999" cy="411932"/>
            </a:xfrm>
            <a:prstGeom prst="roundRect">
              <a:avLst>
                <a:gd name="adj" fmla="val 50000"/>
              </a:avLst>
            </a:prstGeom>
            <a:solidFill>
              <a:srgbClr val="B1D6E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100" dirty="0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0355AB-1331-5F26-3140-442D7258037A}"/>
                </a:ext>
              </a:extLst>
            </p:cNvPr>
            <p:cNvSpPr txBox="1"/>
            <p:nvPr/>
          </p:nvSpPr>
          <p:spPr>
            <a:xfrm>
              <a:off x="906026" y="1184480"/>
              <a:ext cx="1343795" cy="1754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SG" sz="12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State: “approaching”</a:t>
              </a:r>
            </a:p>
          </p:txBody>
        </p:sp>
      </p:grp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38A58830-AF36-892C-EB36-7B57A0FDDBDF}"/>
              </a:ext>
            </a:extLst>
          </p:cNvPr>
          <p:cNvCxnSpPr>
            <a:stCxn id="44" idx="2"/>
            <a:endCxn id="59" idx="0"/>
          </p:cNvCxnSpPr>
          <p:nvPr/>
        </p:nvCxnSpPr>
        <p:spPr>
          <a:xfrm rot="16200000" flipH="1">
            <a:off x="1150813" y="3518140"/>
            <a:ext cx="519123" cy="712383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55B3CBB-FCBF-BD3F-763B-9207D9CE0CC5}"/>
              </a:ext>
            </a:extLst>
          </p:cNvPr>
          <p:cNvCxnSpPr>
            <a:cxnSpLocks/>
            <a:stCxn id="45" idx="2"/>
            <a:endCxn id="59" idx="0"/>
          </p:cNvCxnSpPr>
          <p:nvPr/>
        </p:nvCxnSpPr>
        <p:spPr>
          <a:xfrm rot="5400000">
            <a:off x="1747279" y="3635902"/>
            <a:ext cx="517280" cy="478705"/>
          </a:xfrm>
          <a:prstGeom prst="bentConnector3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070E9F9-F8B4-6ED7-550F-3CEA144715E9}"/>
              </a:ext>
            </a:extLst>
          </p:cNvPr>
          <p:cNvCxnSpPr>
            <a:cxnSpLocks/>
          </p:cNvCxnSpPr>
          <p:nvPr/>
        </p:nvCxnSpPr>
        <p:spPr>
          <a:xfrm>
            <a:off x="2492616" y="2741109"/>
            <a:ext cx="0" cy="36238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6D2BA88-39F6-CFCC-D81A-C51419652F3D}"/>
              </a:ext>
            </a:extLst>
          </p:cNvPr>
          <p:cNvCxnSpPr>
            <a:cxnSpLocks/>
            <a:stCxn id="59" idx="2"/>
            <a:endCxn id="60" idx="0"/>
          </p:cNvCxnSpPr>
          <p:nvPr/>
        </p:nvCxnSpPr>
        <p:spPr>
          <a:xfrm flipH="1">
            <a:off x="1766565" y="4645172"/>
            <a:ext cx="1" cy="31033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21B5B18-F168-749F-BF03-E649687152FE}"/>
              </a:ext>
            </a:extLst>
          </p:cNvPr>
          <p:cNvCxnSpPr>
            <a:cxnSpLocks/>
            <a:stCxn id="60" idx="2"/>
            <a:endCxn id="65" idx="0"/>
          </p:cNvCxnSpPr>
          <p:nvPr/>
        </p:nvCxnSpPr>
        <p:spPr>
          <a:xfrm flipH="1">
            <a:off x="1760405" y="5466781"/>
            <a:ext cx="6160" cy="36863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7EE3A0CC-FB15-5450-05F6-5BD472DE6240}"/>
              </a:ext>
            </a:extLst>
          </p:cNvPr>
          <p:cNvCxnSpPr>
            <a:cxnSpLocks/>
            <a:stCxn id="6" idx="1"/>
            <a:endCxn id="66" idx="1"/>
          </p:cNvCxnSpPr>
          <p:nvPr/>
        </p:nvCxnSpPr>
        <p:spPr>
          <a:xfrm rot="10800000" flipH="1" flipV="1">
            <a:off x="507894" y="404143"/>
            <a:ext cx="452117" cy="5647215"/>
          </a:xfrm>
          <a:prstGeom prst="bentConnector3">
            <a:avLst>
              <a:gd name="adj1" fmla="val -50562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50E72B4-4E05-572A-1489-6B44D22D1D8C}"/>
              </a:ext>
            </a:extLst>
          </p:cNvPr>
          <p:cNvSpPr txBox="1"/>
          <p:nvPr/>
        </p:nvSpPr>
        <p:spPr>
          <a:xfrm rot="16200000">
            <a:off x="-2082094" y="3015776"/>
            <a:ext cx="4507045" cy="175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Current Tick Loop (Synchronous Execution)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9AC4C04-D9D0-3D28-0E16-28CF72B11D04}"/>
              </a:ext>
            </a:extLst>
          </p:cNvPr>
          <p:cNvGrpSpPr/>
          <p:nvPr/>
        </p:nvGrpSpPr>
        <p:grpSpPr>
          <a:xfrm>
            <a:off x="3407064" y="761777"/>
            <a:ext cx="1956787" cy="769545"/>
            <a:chOff x="1061517" y="1435714"/>
            <a:chExt cx="1435845" cy="769545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56B7A029-3424-7AAA-E82E-48D1BA00BCAE}"/>
                </a:ext>
              </a:extLst>
            </p:cNvPr>
            <p:cNvSpPr/>
            <p:nvPr/>
          </p:nvSpPr>
          <p:spPr>
            <a:xfrm>
              <a:off x="1061517" y="1435714"/>
              <a:ext cx="1435845" cy="769545"/>
            </a:xfrm>
            <a:prstGeom prst="diamond">
              <a:avLst/>
            </a:prstGeom>
            <a:solidFill>
              <a:srgbClr val="C3DDAE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600" b="1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F2C553A-D246-33A6-BC8C-752393E6F9C1}"/>
                </a:ext>
              </a:extLst>
            </p:cNvPr>
            <p:cNvSpPr txBox="1"/>
            <p:nvPr/>
          </p:nvSpPr>
          <p:spPr>
            <a:xfrm>
              <a:off x="1214748" y="1592519"/>
              <a:ext cx="1157338" cy="41145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SG" sz="11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Any walkable </a:t>
              </a:r>
            </a:p>
            <a:p>
              <a:pPr algn="ctr">
                <a:lnSpc>
                  <a:spcPct val="80000"/>
                </a:lnSpc>
              </a:pPr>
              <a:r>
                <a:rPr lang="en-SG" sz="11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unoccupied neighbours? </a:t>
              </a:r>
            </a:p>
            <a:p>
              <a:pPr algn="ctr">
                <a:lnSpc>
                  <a:spcPct val="80000"/>
                </a:lnSpc>
              </a:pPr>
              <a:r>
                <a:rPr lang="en-SG" sz="11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(8-connected check)</a:t>
              </a:r>
            </a:p>
          </p:txBody>
        </p:sp>
      </p:grp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05574B04-B633-2DEF-D1A4-302FAF93D542}"/>
              </a:ext>
            </a:extLst>
          </p:cNvPr>
          <p:cNvSpPr/>
          <p:nvPr/>
        </p:nvSpPr>
        <p:spPr>
          <a:xfrm>
            <a:off x="3226335" y="1980122"/>
            <a:ext cx="2334030" cy="3531665"/>
          </a:xfrm>
          <a:prstGeom prst="roundRect">
            <a:avLst>
              <a:gd name="adj" fmla="val 4641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1F96AD-0F7D-40C9-AC22-0A4F49060CED}"/>
              </a:ext>
            </a:extLst>
          </p:cNvPr>
          <p:cNvSpPr txBox="1"/>
          <p:nvPr/>
        </p:nvSpPr>
        <p:spPr>
          <a:xfrm>
            <a:off x="3197799" y="2042464"/>
            <a:ext cx="2453629" cy="140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Channel and Lane Preference Logic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BC2AF02-52A2-4E2C-6325-B665A3C9F1B9}"/>
              </a:ext>
            </a:extLst>
          </p:cNvPr>
          <p:cNvCxnSpPr>
            <a:cxnSpLocks/>
            <a:stCxn id="94" idx="2"/>
            <a:endCxn id="96" idx="0"/>
          </p:cNvCxnSpPr>
          <p:nvPr/>
        </p:nvCxnSpPr>
        <p:spPr>
          <a:xfrm>
            <a:off x="4385458" y="1531322"/>
            <a:ext cx="7892" cy="4488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05A90C0-E9C7-42C2-BF02-6AB605862EF6}"/>
              </a:ext>
            </a:extLst>
          </p:cNvPr>
          <p:cNvSpPr txBox="1"/>
          <p:nvPr/>
        </p:nvSpPr>
        <p:spPr>
          <a:xfrm>
            <a:off x="4244135" y="1620457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859486F6-B349-A802-44C8-E33C88B70D1A}"/>
              </a:ext>
            </a:extLst>
          </p:cNvPr>
          <p:cNvSpPr/>
          <p:nvPr/>
        </p:nvSpPr>
        <p:spPr>
          <a:xfrm>
            <a:off x="4625727" y="1578818"/>
            <a:ext cx="940612" cy="309952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Agent stalled </a:t>
            </a:r>
          </a:p>
          <a:p>
            <a:pPr algn="ctr">
              <a:lnSpc>
                <a:spcPct val="90000"/>
              </a:lnSpc>
            </a:pPr>
            <a:r>
              <a:rPr lang="en-SG" sz="800" dirty="0">
                <a:solidFill>
                  <a:schemeClr val="tx1"/>
                </a:solidFill>
                <a:latin typeface="Aptos Narrow" panose="020B0004020202020204" pitchFamily="34" charset="0"/>
              </a:rPr>
              <a:t>(Wait until path found)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38DCBF3B-4679-4A7F-03D3-EB8E7CC60C93}"/>
              </a:ext>
            </a:extLst>
          </p:cNvPr>
          <p:cNvCxnSpPr>
            <a:cxnSpLocks/>
            <a:stCxn id="94" idx="3"/>
          </p:cNvCxnSpPr>
          <p:nvPr/>
        </p:nvCxnSpPr>
        <p:spPr>
          <a:xfrm>
            <a:off x="5363851" y="1146550"/>
            <a:ext cx="0" cy="43226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63647C7-2561-C748-F527-DECB191AFC4F}"/>
              </a:ext>
            </a:extLst>
          </p:cNvPr>
          <p:cNvSpPr txBox="1"/>
          <p:nvPr/>
        </p:nvSpPr>
        <p:spPr>
          <a:xfrm>
            <a:off x="5224352" y="1268866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ACFFEDD-1F79-A238-6978-ACCA82C229CF}"/>
              </a:ext>
            </a:extLst>
          </p:cNvPr>
          <p:cNvGrpSpPr/>
          <p:nvPr/>
        </p:nvGrpSpPr>
        <p:grpSpPr>
          <a:xfrm>
            <a:off x="3615889" y="2245422"/>
            <a:ext cx="1577234" cy="653735"/>
            <a:chOff x="1214748" y="1435714"/>
            <a:chExt cx="1157338" cy="653735"/>
          </a:xfrm>
        </p:grpSpPr>
        <p:sp>
          <p:nvSpPr>
            <p:cNvPr id="113" name="Diamond 112">
              <a:extLst>
                <a:ext uri="{FF2B5EF4-FFF2-40B4-BE49-F238E27FC236}">
                  <a16:creationId xmlns:a16="http://schemas.microsoft.com/office/drawing/2014/main" id="{8DD804F0-73E6-0857-6ED5-B53784E81498}"/>
                </a:ext>
              </a:extLst>
            </p:cNvPr>
            <p:cNvSpPr/>
            <p:nvPr/>
          </p:nvSpPr>
          <p:spPr>
            <a:xfrm>
              <a:off x="1214748" y="1435714"/>
              <a:ext cx="1157338" cy="653735"/>
            </a:xfrm>
            <a:prstGeom prst="diamond">
              <a:avLst/>
            </a:prstGeom>
            <a:solidFill>
              <a:srgbClr val="C3DDAE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600" b="1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530DBE5-6D69-2606-245B-D40EBCE28DF2}"/>
                </a:ext>
              </a:extLst>
            </p:cNvPr>
            <p:cNvSpPr txBox="1"/>
            <p:nvPr/>
          </p:nvSpPr>
          <p:spPr>
            <a:xfrm>
              <a:off x="1214748" y="1585032"/>
              <a:ext cx="1157338" cy="355097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SG" sz="105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Agent fed up? </a:t>
              </a:r>
            </a:p>
            <a:p>
              <a:pPr algn="ctr">
                <a:lnSpc>
                  <a:spcPct val="80000"/>
                </a:lnSpc>
              </a:pPr>
              <a:r>
                <a:rPr lang="en-SG" sz="900" dirty="0">
                  <a:latin typeface="Aptos Narrow" panose="020B0004020202020204" pitchFamily="34" charset="0"/>
                </a:rPr>
                <a:t>(blocked-ticks &gt; </a:t>
              </a:r>
            </a:p>
            <a:p>
              <a:pPr algn="ctr">
                <a:lnSpc>
                  <a:spcPct val="80000"/>
                </a:lnSpc>
              </a:pPr>
              <a:r>
                <a:rPr lang="en-SG" sz="900" dirty="0">
                  <a:latin typeface="Aptos Narrow" panose="020B0004020202020204" pitchFamily="34" charset="0"/>
                </a:rPr>
                <a:t>lane-discipline?)</a:t>
              </a:r>
              <a:endParaRPr lang="en-SG" sz="900" dirty="0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</p:grp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7F9226F-9AE4-DA14-D788-2AB971E31102}"/>
              </a:ext>
            </a:extLst>
          </p:cNvPr>
          <p:cNvSpPr/>
          <p:nvPr/>
        </p:nvSpPr>
        <p:spPr>
          <a:xfrm>
            <a:off x="3288086" y="2940201"/>
            <a:ext cx="846707" cy="491836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Follow best improvement channel 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10041E51-F3D3-A6EC-E744-8DD79432C76F}"/>
              </a:ext>
            </a:extLst>
          </p:cNvPr>
          <p:cNvCxnSpPr>
            <a:cxnSpLocks/>
          </p:cNvCxnSpPr>
          <p:nvPr/>
        </p:nvCxnSpPr>
        <p:spPr>
          <a:xfrm>
            <a:off x="3630034" y="2559967"/>
            <a:ext cx="0" cy="378846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5A34DB9-94B0-4390-EBBD-8D38BC2CFD69}"/>
              </a:ext>
            </a:extLst>
          </p:cNvPr>
          <p:cNvSpPr txBox="1"/>
          <p:nvPr/>
        </p:nvSpPr>
        <p:spPr>
          <a:xfrm>
            <a:off x="3473841" y="2644868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sp>
        <p:nvSpPr>
          <p:cNvPr id="119" name="Diamond 118">
            <a:extLst>
              <a:ext uri="{FF2B5EF4-FFF2-40B4-BE49-F238E27FC236}">
                <a16:creationId xmlns:a16="http://schemas.microsoft.com/office/drawing/2014/main" id="{85474557-CB26-D326-2E53-F7A64AF71DA8}"/>
              </a:ext>
            </a:extLst>
          </p:cNvPr>
          <p:cNvSpPr/>
          <p:nvPr/>
        </p:nvSpPr>
        <p:spPr>
          <a:xfrm>
            <a:off x="4196543" y="2851661"/>
            <a:ext cx="1338527" cy="657474"/>
          </a:xfrm>
          <a:prstGeom prst="diamond">
            <a:avLst/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600" b="1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A8C89DE-F955-C847-D5D2-58E62D42ABE0}"/>
              </a:ext>
            </a:extLst>
          </p:cNvPr>
          <p:cNvSpPr txBox="1"/>
          <p:nvPr/>
        </p:nvSpPr>
        <p:spPr>
          <a:xfrm>
            <a:off x="4406115" y="2994104"/>
            <a:ext cx="919382" cy="323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900" dirty="0">
                <a:solidFill>
                  <a:schemeClr val="tx1"/>
                </a:solidFill>
                <a:latin typeface="Aptos Narrow" panose="020B0004020202020204" pitchFamily="34" charset="0"/>
              </a:rPr>
              <a:t>Mixed Policy</a:t>
            </a:r>
          </a:p>
          <a:p>
            <a:pPr algn="ctr">
              <a:lnSpc>
                <a:spcPct val="80000"/>
              </a:lnSpc>
            </a:pPr>
            <a:r>
              <a:rPr lang="en-SG" sz="900" dirty="0">
                <a:solidFill>
                  <a:schemeClr val="tx1"/>
                </a:solidFill>
                <a:latin typeface="Aptos Narrow" panose="020B0004020202020204" pitchFamily="34" charset="0"/>
              </a:rPr>
              <a:t> Active? </a:t>
            </a:r>
          </a:p>
          <a:p>
            <a:pPr algn="ctr">
              <a:lnSpc>
                <a:spcPct val="80000"/>
              </a:lnSpc>
            </a:pPr>
            <a:r>
              <a:rPr lang="en-SG" sz="800" dirty="0">
                <a:latin typeface="Aptos Narrow" panose="020B0004020202020204" pitchFamily="34" charset="0"/>
              </a:rPr>
              <a:t>(0&lt;pct-walkers&lt;100)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F4DFAF7-D3A2-45EC-2829-C223A341E46C}"/>
              </a:ext>
            </a:extLst>
          </p:cNvPr>
          <p:cNvCxnSpPr>
            <a:cxnSpLocks/>
          </p:cNvCxnSpPr>
          <p:nvPr/>
        </p:nvCxnSpPr>
        <p:spPr>
          <a:xfrm>
            <a:off x="5180797" y="2559967"/>
            <a:ext cx="0" cy="45944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71027DD-EF55-3F5D-3622-34D74EB813A7}"/>
              </a:ext>
            </a:extLst>
          </p:cNvPr>
          <p:cNvSpPr txBox="1"/>
          <p:nvPr/>
        </p:nvSpPr>
        <p:spPr>
          <a:xfrm>
            <a:off x="5041298" y="2684195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218A1286-AB77-CACE-BF45-39F94926EF83}"/>
              </a:ext>
            </a:extLst>
          </p:cNvPr>
          <p:cNvSpPr/>
          <p:nvPr/>
        </p:nvSpPr>
        <p:spPr>
          <a:xfrm>
            <a:off x="3466781" y="3598819"/>
            <a:ext cx="846707" cy="491836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Follow best improvement channel 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43DD6BDF-9343-AF18-DF2A-01886CEE5A5D}"/>
              </a:ext>
            </a:extLst>
          </p:cNvPr>
          <p:cNvSpPr/>
          <p:nvPr/>
        </p:nvSpPr>
        <p:spPr>
          <a:xfrm>
            <a:off x="4385458" y="3643611"/>
            <a:ext cx="1117892" cy="542072"/>
          </a:xfrm>
          <a:prstGeom prst="diamond">
            <a:avLst/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600" b="1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BAE3387-1218-95C5-1C7B-103882C2C485}"/>
              </a:ext>
            </a:extLst>
          </p:cNvPr>
          <p:cNvSpPr/>
          <p:nvPr/>
        </p:nvSpPr>
        <p:spPr>
          <a:xfrm>
            <a:off x="3613340" y="4969338"/>
            <a:ext cx="1611012" cy="436052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8-connected movement to best neighbour </a:t>
            </a:r>
          </a:p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(move-to-best)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A2308AF3-CBE2-D0B3-08DF-B5607735EF1A}"/>
              </a:ext>
            </a:extLst>
          </p:cNvPr>
          <p:cNvSpPr/>
          <p:nvPr/>
        </p:nvSpPr>
        <p:spPr>
          <a:xfrm>
            <a:off x="3613340" y="5598439"/>
            <a:ext cx="1611012" cy="301092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Enter Marshalling Zone?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82E2584-AD03-F9D9-EF3C-EA5321381D9E}"/>
              </a:ext>
            </a:extLst>
          </p:cNvPr>
          <p:cNvCxnSpPr>
            <a:cxnSpLocks/>
            <a:stCxn id="126" idx="2"/>
            <a:endCxn id="127" idx="0"/>
          </p:cNvCxnSpPr>
          <p:nvPr/>
        </p:nvCxnSpPr>
        <p:spPr>
          <a:xfrm>
            <a:off x="4418846" y="5405390"/>
            <a:ext cx="0" cy="193049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B4F36560-0035-2690-0114-6238BAD7633F}"/>
              </a:ext>
            </a:extLst>
          </p:cNvPr>
          <p:cNvSpPr/>
          <p:nvPr/>
        </p:nvSpPr>
        <p:spPr>
          <a:xfrm>
            <a:off x="4777269" y="4381226"/>
            <a:ext cx="659972" cy="436052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Follow Combined Field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A6943562-37AE-F8E9-CDFA-AD309419EA26}"/>
              </a:ext>
            </a:extLst>
          </p:cNvPr>
          <p:cNvSpPr/>
          <p:nvPr/>
        </p:nvSpPr>
        <p:spPr>
          <a:xfrm>
            <a:off x="3880708" y="4381226"/>
            <a:ext cx="832733" cy="436052"/>
          </a:xfrm>
          <a:prstGeom prst="roundRect">
            <a:avLst>
              <a:gd name="adj" fmla="val 10612"/>
            </a:avLst>
          </a:prstGeom>
          <a:solidFill>
            <a:srgbClr val="C3DDA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Follow Lane Specific Channel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7396855-F01D-5645-8D6D-7BD569DA8509}"/>
              </a:ext>
            </a:extLst>
          </p:cNvPr>
          <p:cNvSpPr txBox="1"/>
          <p:nvPr/>
        </p:nvSpPr>
        <p:spPr>
          <a:xfrm>
            <a:off x="4483627" y="3746331"/>
            <a:ext cx="919382" cy="3366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900" dirty="0">
                <a:solidFill>
                  <a:schemeClr val="tx1"/>
                </a:solidFill>
                <a:latin typeface="Aptos Narrow" panose="020B0004020202020204" pitchFamily="34" charset="0"/>
              </a:rPr>
              <a:t>On </a:t>
            </a:r>
          </a:p>
          <a:p>
            <a:pPr algn="ctr">
              <a:lnSpc>
                <a:spcPct val="80000"/>
              </a:lnSpc>
            </a:pPr>
            <a:r>
              <a:rPr lang="en-SG" sz="900" dirty="0">
                <a:solidFill>
                  <a:schemeClr val="tx1"/>
                </a:solidFill>
                <a:latin typeface="Aptos Narrow" panose="020B0004020202020204" pitchFamily="34" charset="0"/>
              </a:rPr>
              <a:t>preferred </a:t>
            </a:r>
          </a:p>
          <a:p>
            <a:pPr algn="ctr">
              <a:lnSpc>
                <a:spcPct val="80000"/>
              </a:lnSpc>
            </a:pPr>
            <a:r>
              <a:rPr lang="en-SG" sz="900" dirty="0">
                <a:solidFill>
                  <a:schemeClr val="tx1"/>
                </a:solidFill>
                <a:latin typeface="Aptos Narrow" panose="020B0004020202020204" pitchFamily="34" charset="0"/>
              </a:rPr>
              <a:t>side?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89F06278-5D9C-13F4-A541-F252CB81D5B8}"/>
              </a:ext>
            </a:extLst>
          </p:cNvPr>
          <p:cNvCxnSpPr>
            <a:cxnSpLocks/>
            <a:stCxn id="133" idx="2"/>
          </p:cNvCxnSpPr>
          <p:nvPr/>
        </p:nvCxnSpPr>
        <p:spPr>
          <a:xfrm>
            <a:off x="4297075" y="4817278"/>
            <a:ext cx="0" cy="14546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91A4824-B0A2-4CB2-F6A2-D5004E190F75}"/>
              </a:ext>
            </a:extLst>
          </p:cNvPr>
          <p:cNvCxnSpPr>
            <a:cxnSpLocks/>
          </p:cNvCxnSpPr>
          <p:nvPr/>
        </p:nvCxnSpPr>
        <p:spPr>
          <a:xfrm>
            <a:off x="5066219" y="4817278"/>
            <a:ext cx="0" cy="14546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299038B5-F7C0-01D9-1358-A579070DB1DB}"/>
              </a:ext>
            </a:extLst>
          </p:cNvPr>
          <p:cNvCxnSpPr>
            <a:cxnSpLocks/>
          </p:cNvCxnSpPr>
          <p:nvPr/>
        </p:nvCxnSpPr>
        <p:spPr>
          <a:xfrm>
            <a:off x="3752839" y="4090655"/>
            <a:ext cx="0" cy="87209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81F29A4B-7417-99FC-CA3A-7C8E9DA2A70F}"/>
              </a:ext>
            </a:extLst>
          </p:cNvPr>
          <p:cNvCxnSpPr>
            <a:cxnSpLocks/>
            <a:endCxn id="133" idx="0"/>
          </p:cNvCxnSpPr>
          <p:nvPr/>
        </p:nvCxnSpPr>
        <p:spPr>
          <a:xfrm rot="10800000" flipV="1">
            <a:off x="4297075" y="4130120"/>
            <a:ext cx="522320" cy="251105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D6695C0-98CC-C224-9451-31188AC25DE0}"/>
              </a:ext>
            </a:extLst>
          </p:cNvPr>
          <p:cNvSpPr txBox="1"/>
          <p:nvPr/>
        </p:nvSpPr>
        <p:spPr>
          <a:xfrm>
            <a:off x="4367977" y="4075484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9B04E6EE-BDF2-35F4-A859-189C96894BD3}"/>
              </a:ext>
            </a:extLst>
          </p:cNvPr>
          <p:cNvCxnSpPr>
            <a:cxnSpLocks/>
          </p:cNvCxnSpPr>
          <p:nvPr/>
        </p:nvCxnSpPr>
        <p:spPr>
          <a:xfrm>
            <a:off x="5055088" y="3412926"/>
            <a:ext cx="0" cy="2906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98BE5C6F-E267-B9A9-AED1-DE0550D2633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26377" y="4181615"/>
            <a:ext cx="256452" cy="139501"/>
          </a:xfrm>
          <a:prstGeom prst="bentConnector3">
            <a:avLst>
              <a:gd name="adj1" fmla="val 478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6BD2283B-55DD-8E80-426C-94CC27A8A7F3}"/>
              </a:ext>
            </a:extLst>
          </p:cNvPr>
          <p:cNvSpPr txBox="1"/>
          <p:nvPr/>
        </p:nvSpPr>
        <p:spPr>
          <a:xfrm>
            <a:off x="5247572" y="4093029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999C94FC-142E-0D10-823E-02C813C1713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98784" y="3412926"/>
            <a:ext cx="468466" cy="187834"/>
          </a:xfrm>
          <a:prstGeom prst="bentConnector3">
            <a:avLst>
              <a:gd name="adj1" fmla="val 99814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02D7E0C0-A58A-4603-D13D-A9667262055B}"/>
              </a:ext>
            </a:extLst>
          </p:cNvPr>
          <p:cNvSpPr txBox="1"/>
          <p:nvPr/>
        </p:nvSpPr>
        <p:spPr>
          <a:xfrm>
            <a:off x="4248754" y="3341884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0F0BDF5-0286-5840-24C5-6E21D07E1464}"/>
              </a:ext>
            </a:extLst>
          </p:cNvPr>
          <p:cNvSpPr txBox="1"/>
          <p:nvPr/>
        </p:nvSpPr>
        <p:spPr>
          <a:xfrm>
            <a:off x="5084853" y="3414827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D6904E96-3077-761D-5B5F-AA019B5E76B7}"/>
              </a:ext>
            </a:extLst>
          </p:cNvPr>
          <p:cNvCxnSpPr>
            <a:cxnSpLocks/>
            <a:stCxn id="66" idx="3"/>
            <a:endCxn id="94" idx="1"/>
          </p:cNvCxnSpPr>
          <p:nvPr/>
        </p:nvCxnSpPr>
        <p:spPr>
          <a:xfrm flipV="1">
            <a:off x="2560795" y="1146550"/>
            <a:ext cx="846269" cy="4904809"/>
          </a:xfrm>
          <a:prstGeom prst="bentConnector3">
            <a:avLst>
              <a:gd name="adj1" fmla="val 57452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90A5049-0B1A-8929-176E-05F753B4D9C6}"/>
              </a:ext>
            </a:extLst>
          </p:cNvPr>
          <p:cNvSpPr/>
          <p:nvPr/>
        </p:nvSpPr>
        <p:spPr>
          <a:xfrm>
            <a:off x="6119576" y="752543"/>
            <a:ext cx="1389391" cy="337942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Sort queue proximity, then FIFO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9D58058A-6C71-65EB-4458-E6D086014585}"/>
              </a:ext>
            </a:extLst>
          </p:cNvPr>
          <p:cNvCxnSpPr>
            <a:cxnSpLocks/>
          </p:cNvCxnSpPr>
          <p:nvPr/>
        </p:nvCxnSpPr>
        <p:spPr>
          <a:xfrm flipH="1">
            <a:off x="3074155" y="5724098"/>
            <a:ext cx="539185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0831BD28-72C9-B6A6-79FD-4F674F2515C5}"/>
              </a:ext>
            </a:extLst>
          </p:cNvPr>
          <p:cNvSpPr txBox="1"/>
          <p:nvPr/>
        </p:nvSpPr>
        <p:spPr>
          <a:xfrm>
            <a:off x="3227849" y="5651096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A2A44601-6DB3-9AE0-C8CD-EC1633E55473}"/>
              </a:ext>
            </a:extLst>
          </p:cNvPr>
          <p:cNvGrpSpPr/>
          <p:nvPr/>
        </p:nvGrpSpPr>
        <p:grpSpPr>
          <a:xfrm>
            <a:off x="3615818" y="6160833"/>
            <a:ext cx="1600783" cy="301093"/>
            <a:chOff x="906026" y="1167088"/>
            <a:chExt cx="1343795" cy="301093"/>
          </a:xfrm>
        </p:grpSpPr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2D679B61-5EE0-8DC6-4A3A-8A299FF51C09}"/>
                </a:ext>
              </a:extLst>
            </p:cNvPr>
            <p:cNvSpPr/>
            <p:nvPr/>
          </p:nvSpPr>
          <p:spPr>
            <a:xfrm>
              <a:off x="923925" y="1167088"/>
              <a:ext cx="1307999" cy="301093"/>
            </a:xfrm>
            <a:prstGeom prst="roundRect">
              <a:avLst>
                <a:gd name="adj" fmla="val 50000"/>
              </a:avLst>
            </a:prstGeom>
            <a:solidFill>
              <a:srgbClr val="C3DDAE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100" dirty="0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F44058E0-42E0-7497-12CB-ABB4A0834584}"/>
                </a:ext>
              </a:extLst>
            </p:cNvPr>
            <p:cNvSpPr txBox="1"/>
            <p:nvPr/>
          </p:nvSpPr>
          <p:spPr>
            <a:xfrm>
              <a:off x="906026" y="1243824"/>
              <a:ext cx="1343795" cy="1754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SG" sz="12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State: “queuing”</a:t>
              </a:r>
            </a:p>
          </p:txBody>
        </p:sp>
      </p:grp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CE61E8EA-41CB-DB45-576A-00E552B194BC}"/>
              </a:ext>
            </a:extLst>
          </p:cNvPr>
          <p:cNvCxnSpPr>
            <a:cxnSpLocks/>
            <a:stCxn id="127" idx="2"/>
            <a:endCxn id="202" idx="0"/>
          </p:cNvCxnSpPr>
          <p:nvPr/>
        </p:nvCxnSpPr>
        <p:spPr>
          <a:xfrm flipH="1">
            <a:off x="4416211" y="5899531"/>
            <a:ext cx="2635" cy="26130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5C5B7B39-1B95-DAA1-5991-2FAA71C34A29}"/>
              </a:ext>
            </a:extLst>
          </p:cNvPr>
          <p:cNvSpPr txBox="1"/>
          <p:nvPr/>
        </p:nvSpPr>
        <p:spPr>
          <a:xfrm>
            <a:off x="4464577" y="5919150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cxnSp>
        <p:nvCxnSpPr>
          <p:cNvPr id="209" name="Connector: Elbow 208">
            <a:extLst>
              <a:ext uri="{FF2B5EF4-FFF2-40B4-BE49-F238E27FC236}">
                <a16:creationId xmlns:a16="http://schemas.microsoft.com/office/drawing/2014/main" id="{36DC3685-C58A-071D-3034-59280EC97512}"/>
              </a:ext>
            </a:extLst>
          </p:cNvPr>
          <p:cNvCxnSpPr>
            <a:cxnSpLocks/>
            <a:stCxn id="203" idx="3"/>
            <a:endCxn id="182" idx="1"/>
          </p:cNvCxnSpPr>
          <p:nvPr/>
        </p:nvCxnSpPr>
        <p:spPr>
          <a:xfrm flipV="1">
            <a:off x="5216601" y="921514"/>
            <a:ext cx="902975" cy="540377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: Rounded Corners 215">
            <a:extLst>
              <a:ext uri="{FF2B5EF4-FFF2-40B4-BE49-F238E27FC236}">
                <a16:creationId xmlns:a16="http://schemas.microsoft.com/office/drawing/2014/main" id="{ED3ACB08-D20C-CA09-9F17-C07ED46D12E5}"/>
              </a:ext>
            </a:extLst>
          </p:cNvPr>
          <p:cNvSpPr/>
          <p:nvPr/>
        </p:nvSpPr>
        <p:spPr>
          <a:xfrm>
            <a:off x="6033303" y="1203432"/>
            <a:ext cx="1561935" cy="337942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Calculate pref-gap &amp; alt-gap based on policy &amp; lane</a:t>
            </a:r>
          </a:p>
        </p:txBody>
      </p: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65FC4F80-348B-4E50-A26C-E4B0F4341FBB}"/>
              </a:ext>
            </a:extLst>
          </p:cNvPr>
          <p:cNvCxnSpPr>
            <a:cxnSpLocks/>
            <a:stCxn id="182" idx="2"/>
            <a:endCxn id="216" idx="0"/>
          </p:cNvCxnSpPr>
          <p:nvPr/>
        </p:nvCxnSpPr>
        <p:spPr>
          <a:xfrm flipH="1">
            <a:off x="6814271" y="1090485"/>
            <a:ext cx="1" cy="112947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8BC87CDF-1940-368B-7755-5FE78EFB5828}"/>
              </a:ext>
            </a:extLst>
          </p:cNvPr>
          <p:cNvSpPr/>
          <p:nvPr/>
        </p:nvSpPr>
        <p:spPr>
          <a:xfrm>
            <a:off x="5724222" y="1662842"/>
            <a:ext cx="2287604" cy="1581903"/>
          </a:xfrm>
          <a:prstGeom prst="roundRect">
            <a:avLst>
              <a:gd name="adj" fmla="val 4641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DB7722F1-E39F-3B80-FAA6-2F48297DC6FE}"/>
              </a:ext>
            </a:extLst>
          </p:cNvPr>
          <p:cNvSpPr txBox="1"/>
          <p:nvPr/>
        </p:nvSpPr>
        <p:spPr>
          <a:xfrm>
            <a:off x="5710746" y="1722722"/>
            <a:ext cx="2301078" cy="140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Preferred Lane Boarding Attempt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D34A55A9-4523-2A77-EC85-01C1FE78AF48}"/>
              </a:ext>
            </a:extLst>
          </p:cNvPr>
          <p:cNvCxnSpPr>
            <a:cxnSpLocks/>
          </p:cNvCxnSpPr>
          <p:nvPr/>
        </p:nvCxnSpPr>
        <p:spPr>
          <a:xfrm flipH="1">
            <a:off x="6811537" y="1549895"/>
            <a:ext cx="1" cy="112947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Diamond 224">
            <a:extLst>
              <a:ext uri="{FF2B5EF4-FFF2-40B4-BE49-F238E27FC236}">
                <a16:creationId xmlns:a16="http://schemas.microsoft.com/office/drawing/2014/main" id="{AF753B91-3690-0C9F-48BE-3E896EE542E8}"/>
              </a:ext>
            </a:extLst>
          </p:cNvPr>
          <p:cNvSpPr/>
          <p:nvPr/>
        </p:nvSpPr>
        <p:spPr>
          <a:xfrm>
            <a:off x="6776563" y="1888770"/>
            <a:ext cx="1209712" cy="479675"/>
          </a:xfrm>
          <a:prstGeom prst="diamond">
            <a:avLst/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600" b="1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C855FA3-CF7C-F53B-5710-3CD86EE7F1FB}"/>
              </a:ext>
            </a:extLst>
          </p:cNvPr>
          <p:cNvSpPr txBox="1"/>
          <p:nvPr/>
        </p:nvSpPr>
        <p:spPr>
          <a:xfrm>
            <a:off x="6846957" y="2024666"/>
            <a:ext cx="1062510" cy="2007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800" dirty="0">
                <a:solidFill>
                  <a:schemeClr val="tx1"/>
                </a:solidFill>
                <a:latin typeface="Aptos Narrow" panose="020B0004020202020204" pitchFamily="34" charset="0"/>
              </a:rPr>
              <a:t>Pref Lane Clear? </a:t>
            </a:r>
          </a:p>
          <a:p>
            <a:pPr algn="ctr">
              <a:lnSpc>
                <a:spcPct val="80000"/>
              </a:lnSpc>
            </a:pPr>
            <a:r>
              <a:rPr lang="en-SG" sz="800" dirty="0">
                <a:solidFill>
                  <a:schemeClr val="tx1"/>
                </a:solidFill>
                <a:latin typeface="Aptos Narrow" panose="020B0004020202020204" pitchFamily="34" charset="0"/>
              </a:rPr>
              <a:t>(</a:t>
            </a:r>
            <a:r>
              <a:rPr lang="en-SG" sz="800" dirty="0">
                <a:latin typeface="Aptos Narrow" panose="020B0004020202020204" pitchFamily="34" charset="0"/>
              </a:rPr>
              <a:t>pref-gap N steps)</a:t>
            </a:r>
            <a:endParaRPr lang="en-SG" sz="7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E9236FB-83A5-F430-0343-66B407350CBF}"/>
              </a:ext>
            </a:extLst>
          </p:cNvPr>
          <p:cNvGrpSpPr/>
          <p:nvPr/>
        </p:nvGrpSpPr>
        <p:grpSpPr>
          <a:xfrm>
            <a:off x="6067632" y="5835412"/>
            <a:ext cx="1600783" cy="325421"/>
            <a:chOff x="906026" y="1167088"/>
            <a:chExt cx="1343795" cy="325421"/>
          </a:xfrm>
        </p:grpSpPr>
        <p:sp>
          <p:nvSpPr>
            <p:cNvPr id="229" name="Rectangle: Rounded Corners 228">
              <a:extLst>
                <a:ext uri="{FF2B5EF4-FFF2-40B4-BE49-F238E27FC236}">
                  <a16:creationId xmlns:a16="http://schemas.microsoft.com/office/drawing/2014/main" id="{0D29B43A-7C19-D16B-7BF8-5BE8D2DBEFC5}"/>
                </a:ext>
              </a:extLst>
            </p:cNvPr>
            <p:cNvSpPr/>
            <p:nvPr/>
          </p:nvSpPr>
          <p:spPr>
            <a:xfrm>
              <a:off x="923925" y="1167088"/>
              <a:ext cx="1307999" cy="325421"/>
            </a:xfrm>
            <a:prstGeom prst="roundRect">
              <a:avLst>
                <a:gd name="adj" fmla="val 50000"/>
              </a:avLst>
            </a:prstGeom>
            <a:solidFill>
              <a:srgbClr val="F7DF7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5000"/>
                </a:lnSpc>
              </a:pPr>
              <a:endParaRPr lang="en-SG" sz="1100" dirty="0">
                <a:solidFill>
                  <a:schemeClr val="tx1"/>
                </a:solidFill>
                <a:latin typeface="Aptos Narrow" panose="020B0004020202020204" pitchFamily="34" charset="0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9E1C3671-69F4-69B7-D261-6FE2A4A76686}"/>
                </a:ext>
              </a:extLst>
            </p:cNvPr>
            <p:cNvSpPr txBox="1"/>
            <p:nvPr/>
          </p:nvSpPr>
          <p:spPr>
            <a:xfrm>
              <a:off x="906026" y="1243824"/>
              <a:ext cx="1343795" cy="17543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lang="en-SG" sz="12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State: “on </a:t>
              </a:r>
              <a:r>
                <a:rPr lang="en-SG" sz="1200" dirty="0">
                  <a:latin typeface="Aptos Narrow" panose="020B0004020202020204" pitchFamily="34" charset="0"/>
                </a:rPr>
                <a:t>e</a:t>
              </a:r>
              <a:r>
                <a:rPr lang="en-SG" sz="1200" dirty="0">
                  <a:solidFill>
                    <a:schemeClr val="tx1"/>
                  </a:solidFill>
                  <a:latin typeface="Aptos Narrow" panose="020B0004020202020204" pitchFamily="34" charset="0"/>
                </a:rPr>
                <a:t>scalator”</a:t>
              </a:r>
            </a:p>
          </p:txBody>
        </p:sp>
      </p:grp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D576792E-163A-FBF2-4FEF-BCD5DFA59581}"/>
              </a:ext>
            </a:extLst>
          </p:cNvPr>
          <p:cNvSpPr/>
          <p:nvPr/>
        </p:nvSpPr>
        <p:spPr>
          <a:xfrm>
            <a:off x="6950719" y="5176421"/>
            <a:ext cx="994370" cy="361187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Board pref lane;</a:t>
            </a:r>
          </a:p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Record wait time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997FA28-0914-F714-2548-58877C3B3D2B}"/>
              </a:ext>
            </a:extLst>
          </p:cNvPr>
          <p:cNvCxnSpPr>
            <a:cxnSpLocks/>
            <a:stCxn id="307" idx="2"/>
          </p:cNvCxnSpPr>
          <p:nvPr/>
        </p:nvCxnSpPr>
        <p:spPr>
          <a:xfrm>
            <a:off x="7382100" y="3019412"/>
            <a:ext cx="10601" cy="216795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73A04981-F0EE-D306-4CE8-C8FE2AA07D50}"/>
              </a:ext>
            </a:extLst>
          </p:cNvPr>
          <p:cNvSpPr/>
          <p:nvPr/>
        </p:nvSpPr>
        <p:spPr>
          <a:xfrm>
            <a:off x="5862949" y="2649243"/>
            <a:ext cx="854811" cy="361187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Increment blocked-ticks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44" name="Connector: Elbow 243">
            <a:extLst>
              <a:ext uri="{FF2B5EF4-FFF2-40B4-BE49-F238E27FC236}">
                <a16:creationId xmlns:a16="http://schemas.microsoft.com/office/drawing/2014/main" id="{B24BF8F5-2328-A996-21FB-36DFD931EAE5}"/>
              </a:ext>
            </a:extLst>
          </p:cNvPr>
          <p:cNvCxnSpPr>
            <a:cxnSpLocks/>
            <a:stCxn id="225" idx="1"/>
            <a:endCxn id="243" idx="0"/>
          </p:cNvCxnSpPr>
          <p:nvPr/>
        </p:nvCxnSpPr>
        <p:spPr>
          <a:xfrm rot="10800000" flipV="1">
            <a:off x="6290355" y="2128607"/>
            <a:ext cx="486208" cy="520635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488280C6-4419-3BB7-937F-B6CDCFBAB33A}"/>
              </a:ext>
            </a:extLst>
          </p:cNvPr>
          <p:cNvSpPr txBox="1"/>
          <p:nvPr/>
        </p:nvSpPr>
        <p:spPr>
          <a:xfrm>
            <a:off x="6404004" y="2049994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sp>
        <p:nvSpPr>
          <p:cNvPr id="249" name="Rectangle: Rounded Corners 248">
            <a:extLst>
              <a:ext uri="{FF2B5EF4-FFF2-40B4-BE49-F238E27FC236}">
                <a16:creationId xmlns:a16="http://schemas.microsoft.com/office/drawing/2014/main" id="{C0D2C3A8-623B-BE40-977F-04FDBB2D2F6A}"/>
              </a:ext>
            </a:extLst>
          </p:cNvPr>
          <p:cNvSpPr/>
          <p:nvPr/>
        </p:nvSpPr>
        <p:spPr>
          <a:xfrm>
            <a:off x="5724222" y="3286113"/>
            <a:ext cx="2287604" cy="1625760"/>
          </a:xfrm>
          <a:prstGeom prst="roundRect">
            <a:avLst>
              <a:gd name="adj" fmla="val 4641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2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53" name="Diamond 252">
            <a:extLst>
              <a:ext uri="{FF2B5EF4-FFF2-40B4-BE49-F238E27FC236}">
                <a16:creationId xmlns:a16="http://schemas.microsoft.com/office/drawing/2014/main" id="{617AAF1F-F4D6-3827-11DB-ABB441C020B9}"/>
              </a:ext>
            </a:extLst>
          </p:cNvPr>
          <p:cNvSpPr/>
          <p:nvPr/>
        </p:nvSpPr>
        <p:spPr>
          <a:xfrm>
            <a:off x="5786216" y="3584676"/>
            <a:ext cx="1237506" cy="422046"/>
          </a:xfrm>
          <a:prstGeom prst="diamond">
            <a:avLst/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SG" sz="1600" b="1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AA48AAF-F1E9-5086-F4E6-C9ADEEAFE226}"/>
              </a:ext>
            </a:extLst>
          </p:cNvPr>
          <p:cNvSpPr txBox="1"/>
          <p:nvPr/>
        </p:nvSpPr>
        <p:spPr>
          <a:xfrm>
            <a:off x="5882024" y="3679302"/>
            <a:ext cx="1062510" cy="2007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800" dirty="0">
                <a:solidFill>
                  <a:schemeClr val="tx1"/>
                </a:solidFill>
                <a:latin typeface="Aptos Narrow" panose="020B0004020202020204" pitchFamily="34" charset="0"/>
              </a:rPr>
              <a:t>Alt-Lane Clear? </a:t>
            </a:r>
          </a:p>
          <a:p>
            <a:pPr algn="ctr">
              <a:lnSpc>
                <a:spcPct val="80000"/>
              </a:lnSpc>
            </a:pPr>
            <a:r>
              <a:rPr lang="en-SG" sz="800" dirty="0">
                <a:solidFill>
                  <a:schemeClr val="tx1"/>
                </a:solidFill>
                <a:latin typeface="Aptos Narrow" panose="020B0004020202020204" pitchFamily="34" charset="0"/>
              </a:rPr>
              <a:t>(</a:t>
            </a:r>
            <a:r>
              <a:rPr lang="en-SG" sz="800" dirty="0">
                <a:latin typeface="Aptos Narrow" panose="020B0004020202020204" pitchFamily="34" charset="0"/>
              </a:rPr>
              <a:t>pref-gap N steps)</a:t>
            </a:r>
            <a:endParaRPr lang="en-SG" sz="7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199F0C47-8672-750D-4DFF-493A80668366}"/>
              </a:ext>
            </a:extLst>
          </p:cNvPr>
          <p:cNvCxnSpPr>
            <a:cxnSpLocks/>
            <a:endCxn id="253" idx="0"/>
          </p:cNvCxnSpPr>
          <p:nvPr/>
        </p:nvCxnSpPr>
        <p:spPr>
          <a:xfrm>
            <a:off x="6404969" y="3019412"/>
            <a:ext cx="0" cy="5652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D5DBF84B-0B09-E76E-823A-8BE8AE7714A5}"/>
              </a:ext>
            </a:extLst>
          </p:cNvPr>
          <p:cNvSpPr txBox="1"/>
          <p:nvPr/>
        </p:nvSpPr>
        <p:spPr>
          <a:xfrm>
            <a:off x="5794294" y="3346206"/>
            <a:ext cx="2134819" cy="140616"/>
          </a:xfrm>
          <a:prstGeom prst="rect">
            <a:avLst/>
          </a:prstGeom>
          <a:solidFill>
            <a:srgbClr val="F7DF7B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SG" sz="1100" b="1" dirty="0">
                <a:solidFill>
                  <a:schemeClr val="tx1"/>
                </a:solidFill>
                <a:latin typeface="Aptos Narrow" panose="020B0004020202020204" pitchFamily="34" charset="0"/>
              </a:rPr>
              <a:t>Alternative Lane Boarding Attempt</a:t>
            </a:r>
          </a:p>
        </p:txBody>
      </p: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F8E32D1B-4D1D-C84B-B1EB-741E506F508B}"/>
              </a:ext>
            </a:extLst>
          </p:cNvPr>
          <p:cNvCxnSpPr>
            <a:cxnSpLocks/>
            <a:stCxn id="280" idx="2"/>
            <a:endCxn id="272" idx="0"/>
          </p:cNvCxnSpPr>
          <p:nvPr/>
        </p:nvCxnSpPr>
        <p:spPr>
          <a:xfrm flipH="1">
            <a:off x="6390229" y="4828618"/>
            <a:ext cx="7010" cy="347803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5AE31215-B4E0-157A-BC11-91F8689E58E0}"/>
              </a:ext>
            </a:extLst>
          </p:cNvPr>
          <p:cNvSpPr/>
          <p:nvPr/>
        </p:nvSpPr>
        <p:spPr>
          <a:xfrm>
            <a:off x="7090571" y="3980998"/>
            <a:ext cx="734217" cy="361187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Increment blocked-ticks</a:t>
            </a:r>
            <a:endParaRPr lang="en-SG" sz="6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060A254C-774B-BADA-76EB-82513ACF6AD2}"/>
              </a:ext>
            </a:extLst>
          </p:cNvPr>
          <p:cNvSpPr/>
          <p:nvPr/>
        </p:nvSpPr>
        <p:spPr>
          <a:xfrm>
            <a:off x="5893044" y="5176421"/>
            <a:ext cx="994370" cy="361187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Board alt lane;</a:t>
            </a:r>
          </a:p>
          <a:p>
            <a:pPr algn="ctr">
              <a:lnSpc>
                <a:spcPct val="8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Record wait time</a:t>
            </a:r>
            <a:endParaRPr lang="en-SG" sz="8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C7EB5DA2-1E51-6699-4FA4-8406148F9842}"/>
              </a:ext>
            </a:extLst>
          </p:cNvPr>
          <p:cNvCxnSpPr>
            <a:cxnSpLocks/>
            <a:stCxn id="272" idx="2"/>
          </p:cNvCxnSpPr>
          <p:nvPr/>
        </p:nvCxnSpPr>
        <p:spPr>
          <a:xfrm>
            <a:off x="6390229" y="5537608"/>
            <a:ext cx="0" cy="29780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tangle: Rounded Corners 279">
            <a:extLst>
              <a:ext uri="{FF2B5EF4-FFF2-40B4-BE49-F238E27FC236}">
                <a16:creationId xmlns:a16="http://schemas.microsoft.com/office/drawing/2014/main" id="{89DE117C-49D8-D61A-0B81-E0B8E637F3AD}"/>
              </a:ext>
            </a:extLst>
          </p:cNvPr>
          <p:cNvSpPr/>
          <p:nvPr/>
        </p:nvSpPr>
        <p:spPr>
          <a:xfrm>
            <a:off x="5900054" y="4363230"/>
            <a:ext cx="994370" cy="465388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Move-to-patch, adapt behaviour, set colour </a:t>
            </a:r>
            <a:endParaRPr lang="en-SG" sz="6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39F7C11E-9AFF-CA39-97BA-7156FD5282C5}"/>
              </a:ext>
            </a:extLst>
          </p:cNvPr>
          <p:cNvCxnSpPr>
            <a:cxnSpLocks/>
            <a:stCxn id="253" idx="2"/>
            <a:endCxn id="280" idx="0"/>
          </p:cNvCxnSpPr>
          <p:nvPr/>
        </p:nvCxnSpPr>
        <p:spPr>
          <a:xfrm flipH="1">
            <a:off x="6397239" y="4006722"/>
            <a:ext cx="7730" cy="35650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C411D3B1-FBE4-C07B-62B6-C6B2F65ACB71}"/>
              </a:ext>
            </a:extLst>
          </p:cNvPr>
          <p:cNvSpPr txBox="1"/>
          <p:nvPr/>
        </p:nvSpPr>
        <p:spPr>
          <a:xfrm>
            <a:off x="6253086" y="4053315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cxnSp>
        <p:nvCxnSpPr>
          <p:cNvPr id="285" name="Connector: Elbow 284">
            <a:extLst>
              <a:ext uri="{FF2B5EF4-FFF2-40B4-BE49-F238E27FC236}">
                <a16:creationId xmlns:a16="http://schemas.microsoft.com/office/drawing/2014/main" id="{D167EE61-5900-10EE-644F-07C02FBDF3FD}"/>
              </a:ext>
            </a:extLst>
          </p:cNvPr>
          <p:cNvCxnSpPr>
            <a:cxnSpLocks/>
            <a:stCxn id="253" idx="3"/>
            <a:endCxn id="263" idx="0"/>
          </p:cNvCxnSpPr>
          <p:nvPr/>
        </p:nvCxnSpPr>
        <p:spPr>
          <a:xfrm>
            <a:off x="7023722" y="3795699"/>
            <a:ext cx="433958" cy="185299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95158D9B-B1B3-E139-0EE6-B7B3685CB6FC}"/>
              </a:ext>
            </a:extLst>
          </p:cNvPr>
          <p:cNvSpPr txBox="1"/>
          <p:nvPr/>
        </p:nvSpPr>
        <p:spPr>
          <a:xfrm>
            <a:off x="7109351" y="3711729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sp>
        <p:nvSpPr>
          <p:cNvPr id="292" name="Rectangle: Rounded Corners 291">
            <a:extLst>
              <a:ext uri="{FF2B5EF4-FFF2-40B4-BE49-F238E27FC236}">
                <a16:creationId xmlns:a16="http://schemas.microsoft.com/office/drawing/2014/main" id="{DB3A0DA9-0888-93D8-8F13-C2849031D4D9}"/>
              </a:ext>
            </a:extLst>
          </p:cNvPr>
          <p:cNvSpPr/>
          <p:nvPr/>
        </p:nvSpPr>
        <p:spPr>
          <a:xfrm>
            <a:off x="7082827" y="4465699"/>
            <a:ext cx="757824" cy="407821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75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Stall and shuffle closer</a:t>
            </a:r>
          </a:p>
          <a:p>
            <a:pPr algn="ctr">
              <a:lnSpc>
                <a:spcPct val="75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(wait)</a:t>
            </a:r>
            <a:endParaRPr lang="en-SG" sz="6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681CAA08-F75E-52F0-867C-940F620D2088}"/>
              </a:ext>
            </a:extLst>
          </p:cNvPr>
          <p:cNvCxnSpPr>
            <a:cxnSpLocks/>
            <a:stCxn id="263" idx="2"/>
            <a:endCxn id="292" idx="0"/>
          </p:cNvCxnSpPr>
          <p:nvPr/>
        </p:nvCxnSpPr>
        <p:spPr>
          <a:xfrm>
            <a:off x="7457680" y="4342185"/>
            <a:ext cx="4059" cy="12351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ctangle: Rounded Corners 306">
            <a:extLst>
              <a:ext uri="{FF2B5EF4-FFF2-40B4-BE49-F238E27FC236}">
                <a16:creationId xmlns:a16="http://schemas.microsoft.com/office/drawing/2014/main" id="{33750E6D-6FC6-76BB-71D1-BAA9069B19A4}"/>
              </a:ext>
            </a:extLst>
          </p:cNvPr>
          <p:cNvSpPr/>
          <p:nvPr/>
        </p:nvSpPr>
        <p:spPr>
          <a:xfrm>
            <a:off x="6884915" y="2736705"/>
            <a:ext cx="994370" cy="282707"/>
          </a:xfrm>
          <a:prstGeom prst="roundRect">
            <a:avLst>
              <a:gd name="adj" fmla="val 10612"/>
            </a:avLst>
          </a:prstGeom>
          <a:solidFill>
            <a:srgbClr val="F7DF7B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Move-to-patch, </a:t>
            </a:r>
          </a:p>
          <a:p>
            <a:pPr algn="ctr">
              <a:lnSpc>
                <a:spcPct val="80000"/>
              </a:lnSpc>
            </a:pPr>
            <a:r>
              <a:rPr lang="en-SG" sz="1000" dirty="0">
                <a:solidFill>
                  <a:schemeClr val="tx1"/>
                </a:solidFill>
                <a:latin typeface="Aptos Narrow" panose="020B0004020202020204" pitchFamily="34" charset="0"/>
              </a:rPr>
              <a:t>set colour </a:t>
            </a:r>
            <a:endParaRPr lang="en-SG" sz="6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C99F621D-9A8F-DF65-8848-140EF2E41177}"/>
              </a:ext>
            </a:extLst>
          </p:cNvPr>
          <p:cNvCxnSpPr>
            <a:cxnSpLocks/>
            <a:stCxn id="225" idx="2"/>
            <a:endCxn id="307" idx="0"/>
          </p:cNvCxnSpPr>
          <p:nvPr/>
        </p:nvCxnSpPr>
        <p:spPr>
          <a:xfrm>
            <a:off x="7381419" y="2368445"/>
            <a:ext cx="681" cy="36826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AC469625-4F23-45B1-F44F-B54B26FDC76E}"/>
              </a:ext>
            </a:extLst>
          </p:cNvPr>
          <p:cNvCxnSpPr>
            <a:cxnSpLocks/>
          </p:cNvCxnSpPr>
          <p:nvPr/>
        </p:nvCxnSpPr>
        <p:spPr>
          <a:xfrm>
            <a:off x="7409404" y="5537608"/>
            <a:ext cx="0" cy="29780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: Elbow 335">
            <a:extLst>
              <a:ext uri="{FF2B5EF4-FFF2-40B4-BE49-F238E27FC236}">
                <a16:creationId xmlns:a16="http://schemas.microsoft.com/office/drawing/2014/main" id="{8B3B5ED5-C74D-E9D9-C5C7-7F266592B0E9}"/>
              </a:ext>
            </a:extLst>
          </p:cNvPr>
          <p:cNvCxnSpPr>
            <a:cxnSpLocks/>
            <a:stCxn id="292" idx="3"/>
            <a:endCxn id="182" idx="3"/>
          </p:cNvCxnSpPr>
          <p:nvPr/>
        </p:nvCxnSpPr>
        <p:spPr>
          <a:xfrm flipH="1" flipV="1">
            <a:off x="7508967" y="921514"/>
            <a:ext cx="331684" cy="3748096"/>
          </a:xfrm>
          <a:prstGeom prst="bentConnector3">
            <a:avLst>
              <a:gd name="adj1" fmla="val -68921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Rectangle: Rounded Corners 346">
            <a:extLst>
              <a:ext uri="{FF2B5EF4-FFF2-40B4-BE49-F238E27FC236}">
                <a16:creationId xmlns:a16="http://schemas.microsoft.com/office/drawing/2014/main" id="{67274C3B-210D-5454-26E6-911A3D39C0CF}"/>
              </a:ext>
            </a:extLst>
          </p:cNvPr>
          <p:cNvSpPr/>
          <p:nvPr/>
        </p:nvSpPr>
        <p:spPr>
          <a:xfrm>
            <a:off x="8324077" y="752543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C9B8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Process agents</a:t>
            </a:r>
          </a:p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(Top-to-Bottom)</a:t>
            </a:r>
          </a:p>
        </p:txBody>
      </p:sp>
      <p:sp>
        <p:nvSpPr>
          <p:cNvPr id="350" name="Rectangle: Rounded Corners 349">
            <a:extLst>
              <a:ext uri="{FF2B5EF4-FFF2-40B4-BE49-F238E27FC236}">
                <a16:creationId xmlns:a16="http://schemas.microsoft.com/office/drawing/2014/main" id="{75BF22AF-6A5A-F24A-7709-851652691579}"/>
              </a:ext>
            </a:extLst>
          </p:cNvPr>
          <p:cNvSpPr/>
          <p:nvPr/>
        </p:nvSpPr>
        <p:spPr>
          <a:xfrm>
            <a:off x="8902261" y="3429600"/>
            <a:ext cx="950839" cy="518540"/>
          </a:xfrm>
          <a:prstGeom prst="roundRect">
            <a:avLst>
              <a:gd name="adj" fmla="val 10612"/>
            </a:avLst>
          </a:prstGeom>
          <a:solidFill>
            <a:srgbClr val="C9B8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Blocked by same-lane agent ahead? </a:t>
            </a:r>
          </a:p>
        </p:txBody>
      </p:sp>
      <p:cxnSp>
        <p:nvCxnSpPr>
          <p:cNvPr id="351" name="Straight Arrow Connector 350">
            <a:extLst>
              <a:ext uri="{FF2B5EF4-FFF2-40B4-BE49-F238E27FC236}">
                <a16:creationId xmlns:a16="http://schemas.microsoft.com/office/drawing/2014/main" id="{41235903-852D-2B0A-7AE2-30176607F9C2}"/>
              </a:ext>
            </a:extLst>
          </p:cNvPr>
          <p:cNvCxnSpPr>
            <a:cxnSpLocks/>
            <a:stCxn id="347" idx="2"/>
            <a:endCxn id="348" idx="0"/>
          </p:cNvCxnSpPr>
          <p:nvPr/>
        </p:nvCxnSpPr>
        <p:spPr>
          <a:xfrm>
            <a:off x="9088589" y="1263821"/>
            <a:ext cx="0" cy="352179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>
            <a:extLst>
              <a:ext uri="{FF2B5EF4-FFF2-40B4-BE49-F238E27FC236}">
                <a16:creationId xmlns:a16="http://schemas.microsoft.com/office/drawing/2014/main" id="{7A1FFEBE-D776-9F8F-868D-10FE966DD326}"/>
              </a:ext>
            </a:extLst>
          </p:cNvPr>
          <p:cNvCxnSpPr>
            <a:cxnSpLocks/>
            <a:stCxn id="349" idx="2"/>
            <a:endCxn id="350" idx="0"/>
          </p:cNvCxnSpPr>
          <p:nvPr/>
        </p:nvCxnSpPr>
        <p:spPr>
          <a:xfrm>
            <a:off x="9374726" y="3103492"/>
            <a:ext cx="2955" cy="326108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6C999C51-3E71-15AA-9E94-C2B031DDA58C}"/>
              </a:ext>
            </a:extLst>
          </p:cNvPr>
          <p:cNvCxnSpPr>
            <a:cxnSpLocks/>
          </p:cNvCxnSpPr>
          <p:nvPr/>
        </p:nvCxnSpPr>
        <p:spPr>
          <a:xfrm>
            <a:off x="9367989" y="2125087"/>
            <a:ext cx="0" cy="22369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: Elbow 362">
            <a:extLst>
              <a:ext uri="{FF2B5EF4-FFF2-40B4-BE49-F238E27FC236}">
                <a16:creationId xmlns:a16="http://schemas.microsoft.com/office/drawing/2014/main" id="{8EAD982A-0E7B-4CE3-444A-0D2C85BB743D}"/>
              </a:ext>
            </a:extLst>
          </p:cNvPr>
          <p:cNvCxnSpPr>
            <a:cxnSpLocks/>
            <a:stCxn id="350" idx="3"/>
            <a:endCxn id="347" idx="3"/>
          </p:cNvCxnSpPr>
          <p:nvPr/>
        </p:nvCxnSpPr>
        <p:spPr>
          <a:xfrm flipV="1">
            <a:off x="9853100" y="1008182"/>
            <a:ext cx="12700" cy="2680688"/>
          </a:xfrm>
          <a:prstGeom prst="bentConnector3">
            <a:avLst>
              <a:gd name="adj1" fmla="val 1440000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: Elbow 390">
            <a:extLst>
              <a:ext uri="{FF2B5EF4-FFF2-40B4-BE49-F238E27FC236}">
                <a16:creationId xmlns:a16="http://schemas.microsoft.com/office/drawing/2014/main" id="{23704011-CB75-E8DB-AC61-952D19B2937D}"/>
              </a:ext>
            </a:extLst>
          </p:cNvPr>
          <p:cNvCxnSpPr>
            <a:cxnSpLocks/>
            <a:stCxn id="230" idx="3"/>
            <a:endCxn id="347" idx="1"/>
          </p:cNvCxnSpPr>
          <p:nvPr/>
        </p:nvCxnSpPr>
        <p:spPr>
          <a:xfrm flipV="1">
            <a:off x="7668415" y="1008182"/>
            <a:ext cx="655662" cy="4991683"/>
          </a:xfrm>
          <a:prstGeom prst="bentConnector3">
            <a:avLst>
              <a:gd name="adj1" fmla="val 77251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ctangle: Rounded Corners 348">
            <a:extLst>
              <a:ext uri="{FF2B5EF4-FFF2-40B4-BE49-F238E27FC236}">
                <a16:creationId xmlns:a16="http://schemas.microsoft.com/office/drawing/2014/main" id="{620E95CD-8097-B29D-FCE5-CBE80E4C1654}"/>
              </a:ext>
            </a:extLst>
          </p:cNvPr>
          <p:cNvSpPr/>
          <p:nvPr/>
        </p:nvSpPr>
        <p:spPr>
          <a:xfrm>
            <a:off x="8896351" y="2359337"/>
            <a:ext cx="956750" cy="744155"/>
          </a:xfrm>
          <a:prstGeom prst="roundRect">
            <a:avLst>
              <a:gd name="adj" fmla="val 10612"/>
            </a:avLst>
          </a:prstGeom>
          <a:solidFill>
            <a:srgbClr val="C9B8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Walkers:</a:t>
            </a:r>
          </a:p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Probabilistic extra step</a:t>
            </a:r>
          </a:p>
        </p:txBody>
      </p:sp>
      <p:sp>
        <p:nvSpPr>
          <p:cNvPr id="348" name="Rectangle: Rounded Corners 347">
            <a:extLst>
              <a:ext uri="{FF2B5EF4-FFF2-40B4-BE49-F238E27FC236}">
                <a16:creationId xmlns:a16="http://schemas.microsoft.com/office/drawing/2014/main" id="{ECF68BFD-666E-0C4F-5A8F-3D03564DBE5D}"/>
              </a:ext>
            </a:extLst>
          </p:cNvPr>
          <p:cNvSpPr/>
          <p:nvPr/>
        </p:nvSpPr>
        <p:spPr>
          <a:xfrm>
            <a:off x="8324077" y="1616000"/>
            <a:ext cx="1529023" cy="518540"/>
          </a:xfrm>
          <a:prstGeom prst="roundRect">
            <a:avLst>
              <a:gd name="adj" fmla="val 10612"/>
            </a:avLst>
          </a:prstGeom>
          <a:solidFill>
            <a:srgbClr val="C9B8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Escalator Advance</a:t>
            </a:r>
          </a:p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(1 patch per tick)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CD25287-FA2E-E662-AEB2-1B1C5F4E2586}"/>
              </a:ext>
            </a:extLst>
          </p:cNvPr>
          <p:cNvSpPr txBox="1"/>
          <p:nvPr/>
        </p:nvSpPr>
        <p:spPr>
          <a:xfrm>
            <a:off x="9777941" y="3193786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YES</a:t>
            </a:r>
          </a:p>
        </p:txBody>
      </p: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3EA1C756-6DA3-26FD-94DB-F29444FCD859}"/>
              </a:ext>
            </a:extLst>
          </p:cNvPr>
          <p:cNvCxnSpPr>
            <a:cxnSpLocks/>
          </p:cNvCxnSpPr>
          <p:nvPr/>
        </p:nvCxnSpPr>
        <p:spPr>
          <a:xfrm>
            <a:off x="9390601" y="3960085"/>
            <a:ext cx="0" cy="419507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>
            <a:extLst>
              <a:ext uri="{FF2B5EF4-FFF2-40B4-BE49-F238E27FC236}">
                <a16:creationId xmlns:a16="http://schemas.microsoft.com/office/drawing/2014/main" id="{54E4B516-A76A-2B33-49E6-4A77C9EE1EFB}"/>
              </a:ext>
            </a:extLst>
          </p:cNvPr>
          <p:cNvSpPr txBox="1"/>
          <p:nvPr/>
        </p:nvSpPr>
        <p:spPr>
          <a:xfrm>
            <a:off x="9250289" y="4042403"/>
            <a:ext cx="278998" cy="17543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SG" sz="1200" dirty="0">
                <a:solidFill>
                  <a:schemeClr val="tx1"/>
                </a:solidFill>
                <a:latin typeface="Aptos Narrow" panose="020B0004020202020204" pitchFamily="34" charset="0"/>
              </a:rPr>
              <a:t>NO</a:t>
            </a:r>
          </a:p>
        </p:txBody>
      </p:sp>
      <p:sp>
        <p:nvSpPr>
          <p:cNvPr id="407" name="Rectangle: Rounded Corners 406">
            <a:extLst>
              <a:ext uri="{FF2B5EF4-FFF2-40B4-BE49-F238E27FC236}">
                <a16:creationId xmlns:a16="http://schemas.microsoft.com/office/drawing/2014/main" id="{CD1ECE4E-C819-6967-F0B2-56C1E4BEB436}"/>
              </a:ext>
            </a:extLst>
          </p:cNvPr>
          <p:cNvSpPr/>
          <p:nvPr/>
        </p:nvSpPr>
        <p:spPr>
          <a:xfrm>
            <a:off x="8902261" y="4378527"/>
            <a:ext cx="950839" cy="438751"/>
          </a:xfrm>
          <a:prstGeom prst="roundRect">
            <a:avLst>
              <a:gd name="adj" fmla="val 10612"/>
            </a:avLst>
          </a:prstGeom>
          <a:solidFill>
            <a:srgbClr val="C9B8DA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Advance total steps</a:t>
            </a:r>
          </a:p>
        </p:txBody>
      </p:sp>
      <p:sp>
        <p:nvSpPr>
          <p:cNvPr id="411" name="Rectangle: Rounded Corners 410">
            <a:extLst>
              <a:ext uri="{FF2B5EF4-FFF2-40B4-BE49-F238E27FC236}">
                <a16:creationId xmlns:a16="http://schemas.microsoft.com/office/drawing/2014/main" id="{ADDA9865-1FEB-BF4A-3E6A-644A87EDF574}"/>
              </a:ext>
            </a:extLst>
          </p:cNvPr>
          <p:cNvSpPr/>
          <p:nvPr/>
        </p:nvSpPr>
        <p:spPr>
          <a:xfrm>
            <a:off x="10376198" y="752543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Reach top </a:t>
            </a:r>
          </a:p>
        </p:txBody>
      </p:sp>
      <p:sp>
        <p:nvSpPr>
          <p:cNvPr id="412" name="Rectangle: Rounded Corners 411">
            <a:extLst>
              <a:ext uri="{FF2B5EF4-FFF2-40B4-BE49-F238E27FC236}">
                <a16:creationId xmlns:a16="http://schemas.microsoft.com/office/drawing/2014/main" id="{F7033F88-851A-4D32-2EAE-8C78BD9A9A52}"/>
              </a:ext>
            </a:extLst>
          </p:cNvPr>
          <p:cNvSpPr/>
          <p:nvPr/>
        </p:nvSpPr>
        <p:spPr>
          <a:xfrm>
            <a:off x="10376198" y="1500083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Record Journey Time</a:t>
            </a:r>
          </a:p>
        </p:txBody>
      </p:sp>
      <p:sp>
        <p:nvSpPr>
          <p:cNvPr id="413" name="Rectangle: Rounded Corners 412">
            <a:extLst>
              <a:ext uri="{FF2B5EF4-FFF2-40B4-BE49-F238E27FC236}">
                <a16:creationId xmlns:a16="http://schemas.microsoft.com/office/drawing/2014/main" id="{49664F55-815D-A90F-CF6D-82FD69B17B55}"/>
              </a:ext>
            </a:extLst>
          </p:cNvPr>
          <p:cNvSpPr/>
          <p:nvPr/>
        </p:nvSpPr>
        <p:spPr>
          <a:xfrm>
            <a:off x="10376198" y="2238112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Count agent as part of throughput</a:t>
            </a:r>
          </a:p>
        </p:txBody>
      </p:sp>
      <p:sp>
        <p:nvSpPr>
          <p:cNvPr id="414" name="Rectangle: Rounded Corners 413">
            <a:extLst>
              <a:ext uri="{FF2B5EF4-FFF2-40B4-BE49-F238E27FC236}">
                <a16:creationId xmlns:a16="http://schemas.microsoft.com/office/drawing/2014/main" id="{17D5CCB4-5C2F-9498-752D-71A0088EB17A}"/>
              </a:ext>
            </a:extLst>
          </p:cNvPr>
          <p:cNvSpPr/>
          <p:nvPr/>
        </p:nvSpPr>
        <p:spPr>
          <a:xfrm>
            <a:off x="10376198" y="2951370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Remove agent from simulation</a:t>
            </a:r>
          </a:p>
        </p:txBody>
      </p:sp>
      <p:sp>
        <p:nvSpPr>
          <p:cNvPr id="415" name="Rectangle: Rounded Corners 414">
            <a:extLst>
              <a:ext uri="{FF2B5EF4-FFF2-40B4-BE49-F238E27FC236}">
                <a16:creationId xmlns:a16="http://schemas.microsoft.com/office/drawing/2014/main" id="{CBA12F12-1E9D-47C0-B0FB-A316016C1963}"/>
              </a:ext>
            </a:extLst>
          </p:cNvPr>
          <p:cNvSpPr/>
          <p:nvPr/>
        </p:nvSpPr>
        <p:spPr>
          <a:xfrm>
            <a:off x="10376198" y="3703590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Update all other metrics</a:t>
            </a:r>
          </a:p>
        </p:txBody>
      </p:sp>
      <p:cxnSp>
        <p:nvCxnSpPr>
          <p:cNvPr id="416" name="Connector: Elbow 415">
            <a:extLst>
              <a:ext uri="{FF2B5EF4-FFF2-40B4-BE49-F238E27FC236}">
                <a16:creationId xmlns:a16="http://schemas.microsoft.com/office/drawing/2014/main" id="{19A08F90-3033-8EA8-6CA6-4C919B397C4B}"/>
              </a:ext>
            </a:extLst>
          </p:cNvPr>
          <p:cNvCxnSpPr>
            <a:cxnSpLocks/>
            <a:stCxn id="407" idx="3"/>
            <a:endCxn id="411" idx="1"/>
          </p:cNvCxnSpPr>
          <p:nvPr/>
        </p:nvCxnSpPr>
        <p:spPr>
          <a:xfrm flipV="1">
            <a:off x="9853100" y="1008182"/>
            <a:ext cx="523098" cy="3589721"/>
          </a:xfrm>
          <a:prstGeom prst="bentConnector3">
            <a:avLst>
              <a:gd name="adj1" fmla="val 69423"/>
            </a:avLst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Arrow Connector 419">
            <a:extLst>
              <a:ext uri="{FF2B5EF4-FFF2-40B4-BE49-F238E27FC236}">
                <a16:creationId xmlns:a16="http://schemas.microsoft.com/office/drawing/2014/main" id="{119AD722-1036-ADB5-94A3-6AAB980ECD13}"/>
              </a:ext>
            </a:extLst>
          </p:cNvPr>
          <p:cNvCxnSpPr>
            <a:cxnSpLocks/>
            <a:stCxn id="412" idx="2"/>
            <a:endCxn id="413" idx="0"/>
          </p:cNvCxnSpPr>
          <p:nvPr/>
        </p:nvCxnSpPr>
        <p:spPr>
          <a:xfrm>
            <a:off x="11140710" y="2011361"/>
            <a:ext cx="0" cy="22675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Arrow Connector 420">
            <a:extLst>
              <a:ext uri="{FF2B5EF4-FFF2-40B4-BE49-F238E27FC236}">
                <a16:creationId xmlns:a16="http://schemas.microsoft.com/office/drawing/2014/main" id="{F0CCDFD6-04D6-C2C1-48F6-C979FA550BB0}"/>
              </a:ext>
            </a:extLst>
          </p:cNvPr>
          <p:cNvCxnSpPr>
            <a:cxnSpLocks/>
            <a:stCxn id="411" idx="2"/>
            <a:endCxn id="412" idx="0"/>
          </p:cNvCxnSpPr>
          <p:nvPr/>
        </p:nvCxnSpPr>
        <p:spPr>
          <a:xfrm>
            <a:off x="11140710" y="1263821"/>
            <a:ext cx="0" cy="23626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3D10F347-5F4E-4803-974C-A4397EB2D957}"/>
              </a:ext>
            </a:extLst>
          </p:cNvPr>
          <p:cNvCxnSpPr>
            <a:cxnSpLocks/>
            <a:stCxn id="413" idx="2"/>
          </p:cNvCxnSpPr>
          <p:nvPr/>
        </p:nvCxnSpPr>
        <p:spPr>
          <a:xfrm flipH="1">
            <a:off x="11137817" y="2749390"/>
            <a:ext cx="2893" cy="189423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Arrow Connector 428">
            <a:extLst>
              <a:ext uri="{FF2B5EF4-FFF2-40B4-BE49-F238E27FC236}">
                <a16:creationId xmlns:a16="http://schemas.microsoft.com/office/drawing/2014/main" id="{62C05BAA-F111-AB91-E228-3A3F57C339BB}"/>
              </a:ext>
            </a:extLst>
          </p:cNvPr>
          <p:cNvCxnSpPr>
            <a:cxnSpLocks/>
            <a:stCxn id="414" idx="2"/>
            <a:endCxn id="415" idx="0"/>
          </p:cNvCxnSpPr>
          <p:nvPr/>
        </p:nvCxnSpPr>
        <p:spPr>
          <a:xfrm>
            <a:off x="11140710" y="3462648"/>
            <a:ext cx="0" cy="240942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Rectangle: Rounded Corners 432">
            <a:extLst>
              <a:ext uri="{FF2B5EF4-FFF2-40B4-BE49-F238E27FC236}">
                <a16:creationId xmlns:a16="http://schemas.microsoft.com/office/drawing/2014/main" id="{A4F428FC-3876-6F12-AE74-3FD3D3BAACD8}"/>
              </a:ext>
            </a:extLst>
          </p:cNvPr>
          <p:cNvSpPr/>
          <p:nvPr/>
        </p:nvSpPr>
        <p:spPr>
          <a:xfrm>
            <a:off x="10376198" y="4469684"/>
            <a:ext cx="1529023" cy="511278"/>
          </a:xfrm>
          <a:prstGeom prst="roundRect">
            <a:avLst>
              <a:gd name="adj" fmla="val 10612"/>
            </a:avLst>
          </a:prstGeom>
          <a:solidFill>
            <a:srgbClr val="F2A29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If tick = sim-end-tick?</a:t>
            </a:r>
          </a:p>
          <a:p>
            <a:pPr algn="ctr">
              <a:lnSpc>
                <a:spcPct val="90000"/>
              </a:lnSpc>
            </a:pPr>
            <a:r>
              <a:rPr lang="en-SG" sz="1100" dirty="0">
                <a:solidFill>
                  <a:schemeClr val="tx1"/>
                </a:solidFill>
                <a:latin typeface="Aptos Narrow" panose="020B0004020202020204" pitchFamily="34" charset="0"/>
              </a:rPr>
              <a:t>(END)</a:t>
            </a:r>
          </a:p>
        </p:txBody>
      </p: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16DE032C-2364-1811-FF81-77EC1D1CC23E}"/>
              </a:ext>
            </a:extLst>
          </p:cNvPr>
          <p:cNvCxnSpPr>
            <a:cxnSpLocks/>
            <a:stCxn id="415" idx="2"/>
            <a:endCxn id="433" idx="0"/>
          </p:cNvCxnSpPr>
          <p:nvPr/>
        </p:nvCxnSpPr>
        <p:spPr>
          <a:xfrm>
            <a:off x="11140710" y="4214868"/>
            <a:ext cx="0" cy="254816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TextBox 437">
            <a:extLst>
              <a:ext uri="{FF2B5EF4-FFF2-40B4-BE49-F238E27FC236}">
                <a16:creationId xmlns:a16="http://schemas.microsoft.com/office/drawing/2014/main" id="{9B74ABD7-FA4D-AE17-BDD1-62D7EDB3BC3F}"/>
              </a:ext>
            </a:extLst>
          </p:cNvPr>
          <p:cNvSpPr txBox="1"/>
          <p:nvPr/>
        </p:nvSpPr>
        <p:spPr>
          <a:xfrm>
            <a:off x="4029939" y="6599420"/>
            <a:ext cx="9465344" cy="2046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</a:pPr>
            <a:r>
              <a:rPr lang="en-SG" sz="1400" b="1" u="sng" dirty="0"/>
              <a:t>Figure 1: Summary of submodels and decision process flow</a:t>
            </a:r>
            <a:endParaRPr lang="en-SG" sz="1050" b="1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3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336</Words>
  <Application>Microsoft Office PowerPoint</Application>
  <PresentationFormat>Widescreen</PresentationFormat>
  <Paragraphs>100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Tee</dc:creator>
  <cp:lastModifiedBy>Benjamin Tee</cp:lastModifiedBy>
  <cp:revision>2</cp:revision>
  <dcterms:created xsi:type="dcterms:W3CDTF">2026-04-06T14:26:47Z</dcterms:created>
  <dcterms:modified xsi:type="dcterms:W3CDTF">2026-04-06T20:01:20Z</dcterms:modified>
</cp:coreProperties>
</file>